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0757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1417320"/>
            <a:ext cx="9601200" cy="96012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The Profit Leak</a:t>
            </a:r>
            <a:endParaRPr lang="en-US" sz="5000" dirty="0"/>
          </a:p>
        </p:txBody>
      </p:sp>
      <p:sp>
        <p:nvSpPr>
          <p:cNvPr id="3" name="Text 1"/>
          <p:cNvSpPr/>
          <p:nvPr/>
        </p:nvSpPr>
        <p:spPr>
          <a:xfrm>
            <a:off x="640080" y="2148840"/>
            <a:ext cx="9601200" cy="960120"/>
          </a:xfrm>
          <a:prstGeom prst="rect">
            <a:avLst/>
          </a:prstGeom>
          <a:noFill/>
          <a:ln/>
        </p:spPr>
        <p:txBody>
          <a:bodyPr wrap="square" lIns="0" tIns="0" rIns="0" bIns="0" rtlCol="0" anchor="ctr"/>
          <a:lstStyle/>
          <a:p>
            <a:pPr marL="0" indent="0">
              <a:buNone/>
            </a:pPr>
            <a:r>
              <a:rPr lang="en-US" sz="5000" b="1" dirty="0">
                <a:solidFill>
                  <a:srgbClr val="2BB489"/>
                </a:solidFill>
                <a:latin typeface="Cambria" pitchFamily="34" charset="0"/>
                <a:ea typeface="Cambria" pitchFamily="34" charset="-122"/>
                <a:cs typeface="Cambria" pitchFamily="34" charset="-120"/>
              </a:rPr>
              <a:t>Diagnostic</a:t>
            </a:r>
            <a:endParaRPr lang="en-US" sz="5000" dirty="0"/>
          </a:p>
        </p:txBody>
      </p:sp>
      <p:sp>
        <p:nvSpPr>
          <p:cNvPr id="4" name="Text 2"/>
          <p:cNvSpPr/>
          <p:nvPr/>
        </p:nvSpPr>
        <p:spPr>
          <a:xfrm>
            <a:off x="640080" y="3246120"/>
            <a:ext cx="9418320" cy="502920"/>
          </a:xfrm>
          <a:prstGeom prst="rect">
            <a:avLst/>
          </a:prstGeom>
          <a:noFill/>
          <a:ln/>
        </p:spPr>
        <p:txBody>
          <a:bodyPr wrap="square" lIns="0" tIns="0" rIns="0" bIns="0" rtlCol="0" anchor="ctr"/>
          <a:lstStyle/>
          <a:p>
            <a:pPr marL="0" indent="0">
              <a:buNone/>
            </a:pPr>
            <a:r>
              <a:rPr lang="en-US" sz="1800" dirty="0">
                <a:solidFill>
                  <a:srgbClr val="D6D1C2"/>
                </a:solidFill>
                <a:latin typeface="Cambria" pitchFamily="34" charset="0"/>
                <a:ea typeface="Cambria" pitchFamily="34" charset="-122"/>
                <a:cs typeface="Cambria" pitchFamily="34" charset="-120"/>
              </a:rPr>
              <a:t>What a $35.2M Catalog's Revenue Report Doesn't Show You</a:t>
            </a:r>
            <a:endParaRPr lang="en-US" sz="1800" dirty="0"/>
          </a:p>
        </p:txBody>
      </p:sp>
      <p:sp>
        <p:nvSpPr>
          <p:cNvPr id="5" name="Text 3"/>
          <p:cNvSpPr/>
          <p:nvPr/>
        </p:nvSpPr>
        <p:spPr>
          <a:xfrm>
            <a:off x="640080" y="3977640"/>
            <a:ext cx="86868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Zeeshan Akram  ·  E-commerce Profit Analyst</a:t>
            </a:r>
            <a:endParaRPr lang="en-US" sz="1300" dirty="0"/>
          </a:p>
        </p:txBody>
      </p:sp>
      <p:sp>
        <p:nvSpPr>
          <p:cNvPr id="6" name="Text 4"/>
          <p:cNvSpPr/>
          <p:nvPr/>
        </p:nvSpPr>
        <p:spPr>
          <a:xfrm>
            <a:off x="640080" y="4279392"/>
            <a:ext cx="8686800" cy="320040"/>
          </a:xfrm>
          <a:prstGeom prst="rect">
            <a:avLst/>
          </a:prstGeom>
          <a:noFill/>
          <a:ln/>
        </p:spPr>
        <p:txBody>
          <a:bodyPr wrap="square" lIns="0" tIns="0" rIns="0" bIns="0" rtlCol="0" anchor="ctr"/>
          <a:lstStyle/>
          <a:p>
            <a:pPr marL="0" indent="0">
              <a:buNone/>
            </a:pPr>
            <a:r>
              <a:rPr lang="en-US" sz="1200" dirty="0">
                <a:solidFill>
                  <a:srgbClr val="A39D8C"/>
                </a:solidFill>
                <a:latin typeface="Calibri" pitchFamily="34" charset="0"/>
                <a:ea typeface="Calibri" pitchFamily="34" charset="-122"/>
                <a:cs typeface="Calibri" pitchFamily="34" charset="-120"/>
              </a:rPr>
              <a:t>Public DataCo Supply Chain Dataset  ·  180,519 order lines  ·  3 years</a:t>
            </a:r>
            <a:endParaRPr lang="en-US" sz="1200" dirty="0"/>
          </a:p>
        </p:txBody>
      </p:sp>
      <p:sp>
        <p:nvSpPr>
          <p:cNvPr id="7" name="Text 5"/>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8" name="Text 6"/>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Verdict</a:t>
            </a:r>
            <a:endParaRPr lang="en-US" sz="3000" dirty="0"/>
          </a:p>
        </p:txBody>
      </p:sp>
      <p:sp>
        <p:nvSpPr>
          <p:cNvPr id="3" name="Text 1"/>
          <p:cNvSpPr/>
          <p:nvPr/>
        </p:nvSpPr>
        <p:spPr>
          <a:xfrm>
            <a:off x="640080" y="1261872"/>
            <a:ext cx="10911535" cy="457200"/>
          </a:xfrm>
          <a:prstGeom prst="rect">
            <a:avLst/>
          </a:prstGeom>
          <a:noFill/>
          <a:ln/>
        </p:spPr>
        <p:txBody>
          <a:bodyPr wrap="square" lIns="0" tIns="0" rIns="0" bIns="0" rtlCol="0" anchor="ctr"/>
          <a:lstStyle/>
          <a:p>
            <a:pPr marL="0" indent="0">
              <a:buNone/>
            </a:pPr>
            <a:r>
              <a:rPr lang="en-US" sz="1350" dirty="0">
                <a:solidFill>
                  <a:srgbClr val="D6D1C2"/>
                </a:solidFill>
                <a:latin typeface="Calibri" pitchFamily="34" charset="0"/>
                <a:ea typeface="Calibri" pitchFamily="34" charset="-122"/>
                <a:cs typeface="Calibri" pitchFamily="34" charset="-120"/>
              </a:rPr>
              <a:t>This catalog generates $35.2 million in revenue. On paper, that looks like a healthy business. It isn't.</a:t>
            </a:r>
            <a:endParaRPr lang="en-US" sz="1350" dirty="0"/>
          </a:p>
        </p:txBody>
      </p:sp>
      <p:sp>
        <p:nvSpPr>
          <p:cNvPr id="4" name="Shape 2"/>
          <p:cNvSpPr/>
          <p:nvPr/>
        </p:nvSpPr>
        <p:spPr>
          <a:xfrm>
            <a:off x="640080" y="1783080"/>
            <a:ext cx="1999427" cy="1325880"/>
          </a:xfrm>
          <a:prstGeom prst="roundRect">
            <a:avLst>
              <a:gd name="adj" fmla="val 5517"/>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5" name="Text 3"/>
          <p:cNvSpPr/>
          <p:nvPr/>
        </p:nvSpPr>
        <p:spPr>
          <a:xfrm>
            <a:off x="640080" y="1901952"/>
            <a:ext cx="1999427" cy="502920"/>
          </a:xfrm>
          <a:prstGeom prst="rect">
            <a:avLst/>
          </a:prstGeom>
          <a:noFill/>
          <a:ln/>
        </p:spPr>
        <p:txBody>
          <a:bodyPr wrap="square" lIns="0" tIns="0" rIns="0" bIns="0" rtlCol="0" anchor="ctr"/>
          <a:lstStyle/>
          <a:p>
            <a:pPr marL="0" indent="0" algn="ctr">
              <a:buNone/>
            </a:pPr>
            <a:r>
              <a:rPr lang="en-US" sz="2400" b="1" dirty="0">
                <a:solidFill>
                  <a:srgbClr val="2BB489"/>
                </a:solidFill>
                <a:latin typeface="Cambria" pitchFamily="34" charset="0"/>
                <a:ea typeface="Cambria" pitchFamily="34" charset="-122"/>
                <a:cs typeface="Cambria" pitchFamily="34" charset="-120"/>
              </a:rPr>
              <a:t>$35.2M</a:t>
            </a:r>
            <a:endParaRPr lang="en-US" sz="2400" dirty="0"/>
          </a:p>
        </p:txBody>
      </p:sp>
      <p:sp>
        <p:nvSpPr>
          <p:cNvPr id="6" name="Text 4"/>
          <p:cNvSpPr/>
          <p:nvPr/>
        </p:nvSpPr>
        <p:spPr>
          <a:xfrm>
            <a:off x="713232" y="2423160"/>
            <a:ext cx="1853123"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Total Revenue</a:t>
            </a:r>
            <a:endParaRPr lang="en-US" sz="1050" dirty="0"/>
          </a:p>
        </p:txBody>
      </p:sp>
      <p:sp>
        <p:nvSpPr>
          <p:cNvPr id="7" name="Text 5"/>
          <p:cNvSpPr/>
          <p:nvPr/>
        </p:nvSpPr>
        <p:spPr>
          <a:xfrm>
            <a:off x="713232" y="2715768"/>
            <a:ext cx="1853123" cy="320040"/>
          </a:xfrm>
          <a:prstGeom prst="rect">
            <a:avLst/>
          </a:prstGeom>
          <a:noFill/>
          <a:ln/>
        </p:spPr>
        <p:txBody>
          <a:bodyPr wrap="square" lIns="0" tIns="0" rIns="0" bIns="0" rtlCol="0" anchor="ctr"/>
          <a:lstStyle/>
          <a:p>
            <a:pPr marL="0" indent="0" algn="ctr">
              <a:buNone/>
            </a:pPr>
            <a:r>
              <a:rPr lang="en-US" sz="900" dirty="0">
                <a:solidFill>
                  <a:srgbClr val="D6D1C2"/>
                </a:solidFill>
                <a:latin typeface="Calibri" pitchFamily="34" charset="0"/>
                <a:ea typeface="Calibri" pitchFamily="34" charset="-122"/>
                <a:cs typeface="Calibri" pitchFamily="34" charset="-120"/>
              </a:rPr>
              <a:t>180K+ orders, 3 years</a:t>
            </a:r>
            <a:endParaRPr lang="en-US" sz="900" dirty="0"/>
          </a:p>
        </p:txBody>
      </p:sp>
      <p:sp>
        <p:nvSpPr>
          <p:cNvPr id="8" name="Shape 6"/>
          <p:cNvSpPr/>
          <p:nvPr/>
        </p:nvSpPr>
        <p:spPr>
          <a:xfrm>
            <a:off x="2868107" y="1783080"/>
            <a:ext cx="1999427" cy="1325880"/>
          </a:xfrm>
          <a:prstGeom prst="roundRect">
            <a:avLst>
              <a:gd name="adj" fmla="val 5517"/>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9" name="Text 7"/>
          <p:cNvSpPr/>
          <p:nvPr/>
        </p:nvSpPr>
        <p:spPr>
          <a:xfrm>
            <a:off x="2868107" y="1901952"/>
            <a:ext cx="1999427" cy="502920"/>
          </a:xfrm>
          <a:prstGeom prst="rect">
            <a:avLst/>
          </a:prstGeom>
          <a:noFill/>
          <a:ln/>
        </p:spPr>
        <p:txBody>
          <a:bodyPr wrap="square" lIns="0" tIns="0" rIns="0" bIns="0" rtlCol="0" anchor="ctr"/>
          <a:lstStyle/>
          <a:p>
            <a:pPr marL="0" indent="0" algn="ctr">
              <a:buNone/>
            </a:pPr>
            <a:r>
              <a:rPr lang="en-US" sz="2400" b="1" dirty="0">
                <a:solidFill>
                  <a:srgbClr val="2BB489"/>
                </a:solidFill>
                <a:latin typeface="Cambria" pitchFamily="34" charset="0"/>
                <a:ea typeface="Cambria" pitchFamily="34" charset="-122"/>
                <a:cs typeface="Cambria" pitchFamily="34" charset="-120"/>
              </a:rPr>
              <a:t>84.5%</a:t>
            </a:r>
            <a:endParaRPr lang="en-US" sz="2400" dirty="0"/>
          </a:p>
        </p:txBody>
      </p:sp>
      <p:sp>
        <p:nvSpPr>
          <p:cNvPr id="10" name="Text 8"/>
          <p:cNvSpPr/>
          <p:nvPr/>
        </p:nvSpPr>
        <p:spPr>
          <a:xfrm>
            <a:off x="2941259" y="2423160"/>
            <a:ext cx="1853123"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Profit From 8 Products</a:t>
            </a:r>
            <a:endParaRPr lang="en-US" sz="1050" dirty="0"/>
          </a:p>
        </p:txBody>
      </p:sp>
      <p:sp>
        <p:nvSpPr>
          <p:cNvPr id="11" name="Text 9"/>
          <p:cNvSpPr/>
          <p:nvPr/>
        </p:nvSpPr>
        <p:spPr>
          <a:xfrm>
            <a:off x="2941259" y="2715768"/>
            <a:ext cx="1853123" cy="320040"/>
          </a:xfrm>
          <a:prstGeom prst="rect">
            <a:avLst/>
          </a:prstGeom>
          <a:noFill/>
          <a:ln/>
        </p:spPr>
        <p:txBody>
          <a:bodyPr wrap="square" lIns="0" tIns="0" rIns="0" bIns="0" rtlCol="0" anchor="ctr"/>
          <a:lstStyle/>
          <a:p>
            <a:pPr marL="0" indent="0" algn="ctr">
              <a:buNone/>
            </a:pPr>
            <a:r>
              <a:rPr lang="en-US" sz="900" dirty="0">
                <a:solidFill>
                  <a:srgbClr val="D6D1C2"/>
                </a:solidFill>
                <a:latin typeface="Calibri" pitchFamily="34" charset="0"/>
                <a:ea typeface="Calibri" pitchFamily="34" charset="-122"/>
                <a:cs typeface="Calibri" pitchFamily="34" charset="-120"/>
              </a:rPr>
              <a:t>Out of 118 total</a:t>
            </a:r>
            <a:endParaRPr lang="en-US" sz="900" dirty="0"/>
          </a:p>
        </p:txBody>
      </p:sp>
      <p:sp>
        <p:nvSpPr>
          <p:cNvPr id="12" name="Shape 10"/>
          <p:cNvSpPr/>
          <p:nvPr/>
        </p:nvSpPr>
        <p:spPr>
          <a:xfrm>
            <a:off x="5096134" y="1783080"/>
            <a:ext cx="1999427" cy="1325880"/>
          </a:xfrm>
          <a:prstGeom prst="roundRect">
            <a:avLst>
              <a:gd name="adj" fmla="val 5517"/>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13" name="Text 11"/>
          <p:cNvSpPr/>
          <p:nvPr/>
        </p:nvSpPr>
        <p:spPr>
          <a:xfrm>
            <a:off x="5096134" y="1901952"/>
            <a:ext cx="1999427" cy="502920"/>
          </a:xfrm>
          <a:prstGeom prst="rect">
            <a:avLst/>
          </a:prstGeom>
          <a:noFill/>
          <a:ln/>
        </p:spPr>
        <p:txBody>
          <a:bodyPr wrap="square" lIns="0" tIns="0" rIns="0" bIns="0" rtlCol="0" anchor="ctr"/>
          <a:lstStyle/>
          <a:p>
            <a:pPr marL="0" indent="0" algn="ctr">
              <a:buNone/>
            </a:pPr>
            <a:r>
              <a:rPr lang="en-US" sz="2400" b="1" dirty="0">
                <a:solidFill>
                  <a:srgbClr val="2BB489"/>
                </a:solidFill>
                <a:latin typeface="Cambria" pitchFamily="34" charset="0"/>
                <a:ea typeface="Cambria" pitchFamily="34" charset="-122"/>
                <a:cs typeface="Cambria" pitchFamily="34" charset="-120"/>
              </a:rPr>
              <a:t>28</a:t>
            </a:r>
            <a:endParaRPr lang="en-US" sz="2400" dirty="0"/>
          </a:p>
        </p:txBody>
      </p:sp>
      <p:sp>
        <p:nvSpPr>
          <p:cNvPr id="14" name="Text 12"/>
          <p:cNvSpPr/>
          <p:nvPr/>
        </p:nvSpPr>
        <p:spPr>
          <a:xfrm>
            <a:off x="5169286" y="2423160"/>
            <a:ext cx="1853123"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Low Performers</a:t>
            </a:r>
            <a:endParaRPr lang="en-US" sz="1050" dirty="0"/>
          </a:p>
        </p:txBody>
      </p:sp>
      <p:sp>
        <p:nvSpPr>
          <p:cNvPr id="15" name="Text 13"/>
          <p:cNvSpPr/>
          <p:nvPr/>
        </p:nvSpPr>
        <p:spPr>
          <a:xfrm>
            <a:off x="5169286" y="2715768"/>
            <a:ext cx="1853123" cy="320040"/>
          </a:xfrm>
          <a:prstGeom prst="rect">
            <a:avLst/>
          </a:prstGeom>
          <a:noFill/>
          <a:ln/>
        </p:spPr>
        <p:txBody>
          <a:bodyPr wrap="square" lIns="0" tIns="0" rIns="0" bIns="0" rtlCol="0" anchor="ctr"/>
          <a:lstStyle/>
          <a:p>
            <a:pPr marL="0" indent="0" algn="ctr">
              <a:buNone/>
            </a:pPr>
            <a:r>
              <a:rPr lang="en-US" sz="900" dirty="0">
                <a:solidFill>
                  <a:srgbClr val="D6D1C2"/>
                </a:solidFill>
                <a:latin typeface="Calibri" pitchFamily="34" charset="0"/>
                <a:ea typeface="Calibri" pitchFamily="34" charset="-122"/>
                <a:cs typeface="Calibri" pitchFamily="34" charset="-120"/>
              </a:rPr>
              <a:t>Just 2.2% of revenue</a:t>
            </a:r>
            <a:endParaRPr lang="en-US" sz="900" dirty="0"/>
          </a:p>
        </p:txBody>
      </p:sp>
      <p:sp>
        <p:nvSpPr>
          <p:cNvPr id="16" name="Shape 14"/>
          <p:cNvSpPr/>
          <p:nvPr/>
        </p:nvSpPr>
        <p:spPr>
          <a:xfrm>
            <a:off x="7324161" y="1783080"/>
            <a:ext cx="1999427" cy="1325880"/>
          </a:xfrm>
          <a:prstGeom prst="roundRect">
            <a:avLst>
              <a:gd name="adj" fmla="val 5517"/>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17" name="Text 15"/>
          <p:cNvSpPr/>
          <p:nvPr/>
        </p:nvSpPr>
        <p:spPr>
          <a:xfrm>
            <a:off x="7324161" y="1901952"/>
            <a:ext cx="1999427" cy="502920"/>
          </a:xfrm>
          <a:prstGeom prst="rect">
            <a:avLst/>
          </a:prstGeom>
          <a:noFill/>
          <a:ln/>
        </p:spPr>
        <p:txBody>
          <a:bodyPr wrap="square" lIns="0" tIns="0" rIns="0" bIns="0" rtlCol="0" anchor="ctr"/>
          <a:lstStyle/>
          <a:p>
            <a:pPr marL="0" indent="0" algn="ctr">
              <a:buNone/>
            </a:pPr>
            <a:r>
              <a:rPr lang="en-US" sz="2400" b="1" dirty="0">
                <a:solidFill>
                  <a:srgbClr val="2BB489"/>
                </a:solidFill>
                <a:latin typeface="Cambria" pitchFamily="34" charset="0"/>
                <a:ea typeface="Cambria" pitchFamily="34" charset="-122"/>
                <a:cs typeface="Cambria" pitchFamily="34" charset="-120"/>
              </a:rPr>
              <a:t>100%</a:t>
            </a:r>
            <a:endParaRPr lang="en-US" sz="2400" dirty="0"/>
          </a:p>
        </p:txBody>
      </p:sp>
      <p:sp>
        <p:nvSpPr>
          <p:cNvPr id="18" name="Text 16"/>
          <p:cNvSpPr/>
          <p:nvPr/>
        </p:nvSpPr>
        <p:spPr>
          <a:xfrm>
            <a:off x="7397313" y="2423160"/>
            <a:ext cx="1853123"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First Class Late Rate</a:t>
            </a:r>
            <a:endParaRPr lang="en-US" sz="1050" dirty="0"/>
          </a:p>
        </p:txBody>
      </p:sp>
      <p:sp>
        <p:nvSpPr>
          <p:cNvPr id="19" name="Text 17"/>
          <p:cNvSpPr/>
          <p:nvPr/>
        </p:nvSpPr>
        <p:spPr>
          <a:xfrm>
            <a:off x="7397313" y="2715768"/>
            <a:ext cx="1853123" cy="320040"/>
          </a:xfrm>
          <a:prstGeom prst="rect">
            <a:avLst/>
          </a:prstGeom>
          <a:noFill/>
          <a:ln/>
        </p:spPr>
        <p:txBody>
          <a:bodyPr wrap="square" lIns="0" tIns="0" rIns="0" bIns="0" rtlCol="0" anchor="ctr"/>
          <a:lstStyle/>
          <a:p>
            <a:pPr marL="0" indent="0" algn="ctr">
              <a:buNone/>
            </a:pPr>
            <a:r>
              <a:rPr lang="en-US" sz="900" dirty="0">
                <a:solidFill>
                  <a:srgbClr val="D6D1C2"/>
                </a:solidFill>
                <a:latin typeface="Calibri" pitchFamily="34" charset="0"/>
                <a:ea typeface="Calibri" pitchFamily="34" charset="-122"/>
                <a:cs typeface="Calibri" pitchFamily="34" charset="-120"/>
              </a:rPr>
              <a:t>Every single order</a:t>
            </a:r>
            <a:endParaRPr lang="en-US" sz="900" dirty="0"/>
          </a:p>
        </p:txBody>
      </p:sp>
      <p:sp>
        <p:nvSpPr>
          <p:cNvPr id="20" name="Shape 18"/>
          <p:cNvSpPr/>
          <p:nvPr/>
        </p:nvSpPr>
        <p:spPr>
          <a:xfrm>
            <a:off x="9552188" y="1783080"/>
            <a:ext cx="1999427" cy="1325880"/>
          </a:xfrm>
          <a:prstGeom prst="roundRect">
            <a:avLst>
              <a:gd name="adj" fmla="val 5517"/>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21" name="Text 19"/>
          <p:cNvSpPr/>
          <p:nvPr/>
        </p:nvSpPr>
        <p:spPr>
          <a:xfrm>
            <a:off x="9552188" y="1901952"/>
            <a:ext cx="1999427" cy="502920"/>
          </a:xfrm>
          <a:prstGeom prst="rect">
            <a:avLst/>
          </a:prstGeom>
          <a:noFill/>
          <a:ln/>
        </p:spPr>
        <p:txBody>
          <a:bodyPr wrap="square" lIns="0" tIns="0" rIns="0" bIns="0" rtlCol="0" anchor="ctr"/>
          <a:lstStyle/>
          <a:p>
            <a:pPr marL="0" indent="0" algn="ctr">
              <a:buNone/>
            </a:pPr>
            <a:r>
              <a:rPr lang="en-US" sz="2400" b="1" dirty="0">
                <a:solidFill>
                  <a:srgbClr val="2BB489"/>
                </a:solidFill>
                <a:latin typeface="Cambria" pitchFamily="34" charset="0"/>
                <a:ea typeface="Cambria" pitchFamily="34" charset="-122"/>
                <a:cs typeface="Cambria" pitchFamily="34" charset="-120"/>
              </a:rPr>
              <a:t>$643K</a:t>
            </a:r>
            <a:endParaRPr lang="en-US" sz="2400" dirty="0"/>
          </a:p>
        </p:txBody>
      </p:sp>
      <p:sp>
        <p:nvSpPr>
          <p:cNvPr id="22" name="Text 20"/>
          <p:cNvSpPr/>
          <p:nvPr/>
        </p:nvSpPr>
        <p:spPr>
          <a:xfrm>
            <a:off x="9625340" y="2423160"/>
            <a:ext cx="1853123"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Core 8 Stress Test</a:t>
            </a:r>
            <a:endParaRPr lang="en-US" sz="1050" dirty="0"/>
          </a:p>
        </p:txBody>
      </p:sp>
      <p:sp>
        <p:nvSpPr>
          <p:cNvPr id="23" name="Text 21"/>
          <p:cNvSpPr/>
          <p:nvPr/>
        </p:nvSpPr>
        <p:spPr>
          <a:xfrm>
            <a:off x="9625340" y="2715768"/>
            <a:ext cx="1853123" cy="320040"/>
          </a:xfrm>
          <a:prstGeom prst="rect">
            <a:avLst/>
          </a:prstGeom>
          <a:noFill/>
          <a:ln/>
        </p:spPr>
        <p:txBody>
          <a:bodyPr wrap="square" lIns="0" tIns="0" rIns="0" bIns="0" rtlCol="0" anchor="ctr"/>
          <a:lstStyle/>
          <a:p>
            <a:pPr marL="0" indent="0" algn="ctr">
              <a:buNone/>
            </a:pPr>
            <a:r>
              <a:rPr lang="en-US" sz="900" dirty="0">
                <a:solidFill>
                  <a:srgbClr val="D6D1C2"/>
                </a:solidFill>
                <a:latin typeface="Calibri" pitchFamily="34" charset="0"/>
                <a:ea typeface="Calibri" pitchFamily="34" charset="-122"/>
                <a:cs typeface="Calibri" pitchFamily="34" charset="-120"/>
              </a:rPr>
              <a:t>Modeled, 17% of profit</a:t>
            </a:r>
            <a:endParaRPr lang="en-US" sz="900" dirty="0"/>
          </a:p>
        </p:txBody>
      </p:sp>
      <p:sp>
        <p:nvSpPr>
          <p:cNvPr id="24" name="Shape 22"/>
          <p:cNvSpPr/>
          <p:nvPr/>
        </p:nvSpPr>
        <p:spPr>
          <a:xfrm>
            <a:off x="640080" y="3310128"/>
            <a:ext cx="310896" cy="310896"/>
          </a:xfrm>
          <a:prstGeom prst="ellipse">
            <a:avLst/>
          </a:prstGeom>
          <a:solidFill>
            <a:srgbClr val="332F25"/>
          </a:solidFill>
          <a:ln/>
        </p:spPr>
      </p:sp>
      <p:sp>
        <p:nvSpPr>
          <p:cNvPr id="25" name="Text 23"/>
          <p:cNvSpPr/>
          <p:nvPr/>
        </p:nvSpPr>
        <p:spPr>
          <a:xfrm>
            <a:off x="640080" y="3310128"/>
            <a:ext cx="310896" cy="310896"/>
          </a:xfrm>
          <a:prstGeom prst="rect">
            <a:avLst/>
          </a:prstGeom>
          <a:noFill/>
          <a:ln/>
        </p:spPr>
        <p:txBody>
          <a:bodyPr wrap="square" lIns="0" tIns="0" rIns="0" bIns="0" rtlCol="0" anchor="ctr"/>
          <a:lstStyle/>
          <a:p>
            <a:pPr marL="0" indent="0" algn="ctr">
              <a:buNone/>
            </a:pPr>
            <a:r>
              <a:rPr lang="en-US" sz="1000" b="1" dirty="0">
                <a:solidFill>
                  <a:srgbClr val="2BB489"/>
                </a:solidFill>
                <a:latin typeface="Calibri" pitchFamily="34" charset="0"/>
                <a:ea typeface="Calibri" pitchFamily="34" charset="-122"/>
                <a:cs typeface="Calibri" pitchFamily="34" charset="-120"/>
              </a:rPr>
              <a:t>01</a:t>
            </a:r>
            <a:endParaRPr lang="en-US" sz="1000" dirty="0"/>
          </a:p>
        </p:txBody>
      </p:sp>
      <p:sp>
        <p:nvSpPr>
          <p:cNvPr id="26" name="Text 24"/>
          <p:cNvSpPr/>
          <p:nvPr/>
        </p:nvSpPr>
        <p:spPr>
          <a:xfrm>
            <a:off x="1115568" y="3236976"/>
            <a:ext cx="10436047"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Every product in this catalog has recorded at least one loss-making order. There is no clean SKU in here.</a:t>
            </a:r>
            <a:endParaRPr lang="en-US" sz="1100" dirty="0"/>
          </a:p>
        </p:txBody>
      </p:sp>
      <p:sp>
        <p:nvSpPr>
          <p:cNvPr id="27" name="Shape 25"/>
          <p:cNvSpPr/>
          <p:nvPr/>
        </p:nvSpPr>
        <p:spPr>
          <a:xfrm>
            <a:off x="640080" y="3767328"/>
            <a:ext cx="310896" cy="310896"/>
          </a:xfrm>
          <a:prstGeom prst="ellipse">
            <a:avLst/>
          </a:prstGeom>
          <a:solidFill>
            <a:srgbClr val="332F25"/>
          </a:solidFill>
          <a:ln/>
        </p:spPr>
      </p:sp>
      <p:sp>
        <p:nvSpPr>
          <p:cNvPr id="28" name="Text 26"/>
          <p:cNvSpPr/>
          <p:nvPr/>
        </p:nvSpPr>
        <p:spPr>
          <a:xfrm>
            <a:off x="640080" y="3767328"/>
            <a:ext cx="310896" cy="310896"/>
          </a:xfrm>
          <a:prstGeom prst="rect">
            <a:avLst/>
          </a:prstGeom>
          <a:noFill/>
          <a:ln/>
        </p:spPr>
        <p:txBody>
          <a:bodyPr wrap="square" lIns="0" tIns="0" rIns="0" bIns="0" rtlCol="0" anchor="ctr"/>
          <a:lstStyle/>
          <a:p>
            <a:pPr marL="0" indent="0" algn="ctr">
              <a:buNone/>
            </a:pPr>
            <a:r>
              <a:rPr lang="en-US" sz="1000" b="1" dirty="0">
                <a:solidFill>
                  <a:srgbClr val="2BB489"/>
                </a:solidFill>
                <a:latin typeface="Calibri" pitchFamily="34" charset="0"/>
                <a:ea typeface="Calibri" pitchFamily="34" charset="-122"/>
                <a:cs typeface="Calibri" pitchFamily="34" charset="-120"/>
              </a:rPr>
              <a:t>02</a:t>
            </a:r>
            <a:endParaRPr lang="en-US" sz="1000" dirty="0"/>
          </a:p>
        </p:txBody>
      </p:sp>
      <p:sp>
        <p:nvSpPr>
          <p:cNvPr id="29" name="Text 27"/>
          <p:cNvSpPr/>
          <p:nvPr/>
        </p:nvSpPr>
        <p:spPr>
          <a:xfrm>
            <a:off x="1115568" y="3694176"/>
            <a:ext cx="10436047"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Just 8 products generate 84.5% of all profit. The other 110 together earn about $590K.</a:t>
            </a:r>
            <a:endParaRPr lang="en-US" sz="1100" dirty="0"/>
          </a:p>
        </p:txBody>
      </p:sp>
      <p:sp>
        <p:nvSpPr>
          <p:cNvPr id="30" name="Shape 28"/>
          <p:cNvSpPr/>
          <p:nvPr/>
        </p:nvSpPr>
        <p:spPr>
          <a:xfrm>
            <a:off x="640080" y="4224528"/>
            <a:ext cx="310896" cy="310896"/>
          </a:xfrm>
          <a:prstGeom prst="ellipse">
            <a:avLst/>
          </a:prstGeom>
          <a:solidFill>
            <a:srgbClr val="332F25"/>
          </a:solidFill>
          <a:ln/>
        </p:spPr>
      </p:sp>
      <p:sp>
        <p:nvSpPr>
          <p:cNvPr id="31" name="Text 29"/>
          <p:cNvSpPr/>
          <p:nvPr/>
        </p:nvSpPr>
        <p:spPr>
          <a:xfrm>
            <a:off x="640080" y="4224528"/>
            <a:ext cx="310896" cy="310896"/>
          </a:xfrm>
          <a:prstGeom prst="rect">
            <a:avLst/>
          </a:prstGeom>
          <a:noFill/>
          <a:ln/>
        </p:spPr>
        <p:txBody>
          <a:bodyPr wrap="square" lIns="0" tIns="0" rIns="0" bIns="0" rtlCol="0" anchor="ctr"/>
          <a:lstStyle/>
          <a:p>
            <a:pPr marL="0" indent="0" algn="ctr">
              <a:buNone/>
            </a:pPr>
            <a:r>
              <a:rPr lang="en-US" sz="1000" b="1" dirty="0">
                <a:solidFill>
                  <a:srgbClr val="2BB489"/>
                </a:solidFill>
                <a:latin typeface="Calibri" pitchFamily="34" charset="0"/>
                <a:ea typeface="Calibri" pitchFamily="34" charset="-122"/>
                <a:cs typeface="Calibri" pitchFamily="34" charset="-120"/>
              </a:rPr>
              <a:t>03</a:t>
            </a:r>
            <a:endParaRPr lang="en-US" sz="1000" dirty="0"/>
          </a:p>
        </p:txBody>
      </p:sp>
      <p:sp>
        <p:nvSpPr>
          <p:cNvPr id="32" name="Text 30"/>
          <p:cNvSpPr/>
          <p:nvPr/>
        </p:nvSpPr>
        <p:spPr>
          <a:xfrm>
            <a:off x="1115568" y="4151376"/>
            <a:ext cx="10436047"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28 products generate only 2.2% of revenue and about $67K of profit. Sort them by cause before cutting any.</a:t>
            </a:r>
            <a:endParaRPr lang="en-US" sz="1100" dirty="0"/>
          </a:p>
        </p:txBody>
      </p:sp>
      <p:sp>
        <p:nvSpPr>
          <p:cNvPr id="33" name="Shape 31"/>
          <p:cNvSpPr/>
          <p:nvPr/>
        </p:nvSpPr>
        <p:spPr>
          <a:xfrm>
            <a:off x="640080" y="4681728"/>
            <a:ext cx="310896" cy="310896"/>
          </a:xfrm>
          <a:prstGeom prst="ellipse">
            <a:avLst/>
          </a:prstGeom>
          <a:solidFill>
            <a:srgbClr val="332F25"/>
          </a:solidFill>
          <a:ln/>
        </p:spPr>
      </p:sp>
      <p:sp>
        <p:nvSpPr>
          <p:cNvPr id="34" name="Text 32"/>
          <p:cNvSpPr/>
          <p:nvPr/>
        </p:nvSpPr>
        <p:spPr>
          <a:xfrm>
            <a:off x="640080" y="4681728"/>
            <a:ext cx="310896" cy="310896"/>
          </a:xfrm>
          <a:prstGeom prst="rect">
            <a:avLst/>
          </a:prstGeom>
          <a:noFill/>
          <a:ln/>
        </p:spPr>
        <p:txBody>
          <a:bodyPr wrap="square" lIns="0" tIns="0" rIns="0" bIns="0" rtlCol="0" anchor="ctr"/>
          <a:lstStyle/>
          <a:p>
            <a:pPr marL="0" indent="0" algn="ctr">
              <a:buNone/>
            </a:pPr>
            <a:r>
              <a:rPr lang="en-US" sz="1000" b="1" dirty="0">
                <a:solidFill>
                  <a:srgbClr val="2BB489"/>
                </a:solidFill>
                <a:latin typeface="Calibri" pitchFamily="34" charset="0"/>
                <a:ea typeface="Calibri" pitchFamily="34" charset="-122"/>
                <a:cs typeface="Calibri" pitchFamily="34" charset="-120"/>
              </a:rPr>
              <a:t>04</a:t>
            </a:r>
            <a:endParaRPr lang="en-US" sz="1000" dirty="0"/>
          </a:p>
        </p:txBody>
      </p:sp>
      <p:sp>
        <p:nvSpPr>
          <p:cNvPr id="35" name="Text 33"/>
          <p:cNvSpPr/>
          <p:nvPr/>
        </p:nvSpPr>
        <p:spPr>
          <a:xfrm>
            <a:off x="1115568" y="4608576"/>
            <a:ext cx="10436047"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First Class shipping arrives late on every single order. Standard Class, the cheapest tier, is the most reliable shipping method in the catalog.</a:t>
            </a:r>
            <a:endParaRPr lang="en-US" sz="1100" dirty="0"/>
          </a:p>
        </p:txBody>
      </p:sp>
      <p:sp>
        <p:nvSpPr>
          <p:cNvPr id="36" name="Shape 34"/>
          <p:cNvSpPr/>
          <p:nvPr/>
        </p:nvSpPr>
        <p:spPr>
          <a:xfrm>
            <a:off x="640080" y="5138928"/>
            <a:ext cx="310896" cy="310896"/>
          </a:xfrm>
          <a:prstGeom prst="ellipse">
            <a:avLst/>
          </a:prstGeom>
          <a:solidFill>
            <a:srgbClr val="332F25"/>
          </a:solidFill>
          <a:ln/>
        </p:spPr>
      </p:sp>
      <p:sp>
        <p:nvSpPr>
          <p:cNvPr id="37" name="Text 35"/>
          <p:cNvSpPr/>
          <p:nvPr/>
        </p:nvSpPr>
        <p:spPr>
          <a:xfrm>
            <a:off x="640080" y="5138928"/>
            <a:ext cx="310896" cy="310896"/>
          </a:xfrm>
          <a:prstGeom prst="rect">
            <a:avLst/>
          </a:prstGeom>
          <a:noFill/>
          <a:ln/>
        </p:spPr>
        <p:txBody>
          <a:bodyPr wrap="square" lIns="0" tIns="0" rIns="0" bIns="0" rtlCol="0" anchor="ctr"/>
          <a:lstStyle/>
          <a:p>
            <a:pPr marL="0" indent="0" algn="ctr">
              <a:buNone/>
            </a:pPr>
            <a:r>
              <a:rPr lang="en-US" sz="1000" b="1" dirty="0">
                <a:solidFill>
                  <a:srgbClr val="2BB489"/>
                </a:solidFill>
                <a:latin typeface="Calibri" pitchFamily="34" charset="0"/>
                <a:ea typeface="Calibri" pitchFamily="34" charset="-122"/>
                <a:cs typeface="Calibri" pitchFamily="34" charset="-120"/>
              </a:rPr>
              <a:t>05</a:t>
            </a:r>
            <a:endParaRPr lang="en-US" sz="1000" dirty="0"/>
          </a:p>
        </p:txBody>
      </p:sp>
      <p:sp>
        <p:nvSpPr>
          <p:cNvPr id="38" name="Text 36"/>
          <p:cNvSpPr/>
          <p:nvPr/>
        </p:nvSpPr>
        <p:spPr>
          <a:xfrm>
            <a:off x="1115568" y="5065776"/>
            <a:ext cx="10436047"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44 products sell far better than they earn. The SOLE E35 Elliptical ranks 36th by revenue and last by profit.</a:t>
            </a:r>
            <a:endParaRPr lang="en-US" sz="1100" dirty="0"/>
          </a:p>
        </p:txBody>
      </p:sp>
      <p:sp>
        <p:nvSpPr>
          <p:cNvPr id="39" name="Shape 37"/>
          <p:cNvSpPr/>
          <p:nvPr/>
        </p:nvSpPr>
        <p:spPr>
          <a:xfrm>
            <a:off x="640080" y="5925312"/>
            <a:ext cx="10911535" cy="502920"/>
          </a:xfrm>
          <a:prstGeom prst="roundRect">
            <a:avLst>
              <a:gd name="adj" fmla="val 10909"/>
            </a:avLst>
          </a:prstGeom>
          <a:solidFill>
            <a:srgbClr val="2BB489"/>
          </a:solidFill>
          <a:ln/>
        </p:spPr>
      </p:sp>
      <p:sp>
        <p:nvSpPr>
          <p:cNvPr id="40" name="Text 38"/>
          <p:cNvSpPr/>
          <p:nvPr/>
        </p:nvSpPr>
        <p:spPr>
          <a:xfrm>
            <a:off x="822960" y="5925312"/>
            <a:ext cx="10545775" cy="502920"/>
          </a:xfrm>
          <a:prstGeom prst="rect">
            <a:avLst/>
          </a:prstGeom>
          <a:noFill/>
          <a:ln/>
        </p:spPr>
        <p:txBody>
          <a:bodyPr wrap="square" lIns="0" tIns="0" rIns="0" bIns="0" rtlCol="0" anchor="ctr"/>
          <a:lstStyle/>
          <a:p>
            <a:pPr marL="0" indent="0">
              <a:buNone/>
            </a:pPr>
            <a:r>
              <a:rPr lang="en-US" sz="1250" dirty="0">
                <a:solidFill>
                  <a:srgbClr val="0E2A21"/>
                </a:solidFill>
                <a:latin typeface="Calibri" pitchFamily="34" charset="0"/>
                <a:ea typeface="Calibri" pitchFamily="34" charset="-122"/>
                <a:cs typeface="Calibri" pitchFamily="34" charset="-120"/>
              </a:rPr>
              <a:t>Revenue is not the issue here. Mistaking revenue for business health is.</a:t>
            </a:r>
            <a:endParaRPr lang="en-US" sz="1250" dirty="0"/>
          </a:p>
        </p:txBody>
      </p:sp>
      <p:sp>
        <p:nvSpPr>
          <p:cNvPr id="41" name="Text 39"/>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42" name="Text 40"/>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Your Profit Actually Comes From</a:t>
            </a:r>
            <a:endParaRPr lang="en-US" sz="3000" dirty="0"/>
          </a:p>
        </p:txBody>
      </p:sp>
      <p:sp>
        <p:nvSpPr>
          <p:cNvPr id="3" name="Shape 1"/>
          <p:cNvSpPr/>
          <p:nvPr/>
        </p:nvSpPr>
        <p:spPr>
          <a:xfrm>
            <a:off x="640080" y="1417320"/>
            <a:ext cx="6675120" cy="2798064"/>
          </a:xfrm>
          <a:prstGeom prst="roundRect">
            <a:avLst>
              <a:gd name="adj" fmla="val 1961"/>
            </a:avLst>
          </a:prstGeom>
          <a:solidFill>
            <a:srgbClr val="FFFFFF"/>
          </a:solidFill>
          <a:ln/>
          <a:effectLst>
            <a:outerShdw blurRad="101600" dist="38100" dir="2700000" algn="bl" rotWithShape="0">
              <a:srgbClr val="000000">
                <a:alpha val="35000"/>
              </a:srgbClr>
            </a:outerShdw>
          </a:effectLst>
        </p:spPr>
      </p:sp>
      <p:pic>
        <p:nvPicPr>
          <p:cNvPr id="4" name="Image 0" descr="quadrant_crop_final.png"/>
          <p:cNvPicPr>
            <a:picLocks noChangeAspect="1"/>
          </p:cNvPicPr>
          <p:nvPr/>
        </p:nvPicPr>
        <p:blipFill>
          <a:blip r:embed="rId3"/>
          <a:stretch>
            <a:fillRect/>
          </a:stretch>
        </p:blipFill>
        <p:spPr>
          <a:xfrm>
            <a:off x="749808" y="1527048"/>
            <a:ext cx="6455664" cy="2578608"/>
          </a:xfrm>
          <a:prstGeom prst="rect">
            <a:avLst/>
          </a:prstGeom>
        </p:spPr>
      </p:pic>
      <p:sp>
        <p:nvSpPr>
          <p:cNvPr id="5" name="Shape 2"/>
          <p:cNvSpPr/>
          <p:nvPr/>
        </p:nvSpPr>
        <p:spPr>
          <a:xfrm>
            <a:off x="640080" y="4434840"/>
            <a:ext cx="6675120" cy="1463040"/>
          </a:xfrm>
          <a:prstGeom prst="roundRect">
            <a:avLst>
              <a:gd name="adj" fmla="val 3750"/>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6" name="Text 3"/>
          <p:cNvSpPr/>
          <p:nvPr/>
        </p:nvSpPr>
        <p:spPr>
          <a:xfrm>
            <a:off x="868680" y="4544568"/>
            <a:ext cx="6217920" cy="1234440"/>
          </a:xfrm>
          <a:prstGeom prst="rect">
            <a:avLst/>
          </a:prstGeom>
          <a:noFill/>
          <a:ln/>
        </p:spPr>
        <p:txBody>
          <a:bodyPr wrap="square" lIns="0" tIns="0" rIns="0" bIns="0" rtlCol="0" anchor="ctr"/>
          <a:lstStyle/>
          <a:p>
            <a:pPr marL="0" indent="0">
              <a:buNone/>
            </a:pPr>
            <a:r>
              <a:rPr lang="en-US" sz="1250" i="1" dirty="0">
                <a:solidFill>
                  <a:srgbClr val="D6D1C2"/>
                </a:solidFill>
                <a:latin typeface="Calibri" pitchFamily="34" charset="0"/>
                <a:ea typeface="Calibri" pitchFamily="34" charset="-122"/>
                <a:cs typeface="Calibri" pitchFamily="34" charset="-120"/>
              </a:rPr>
              <a:t>These boundaries are not arbitrary. They are set at the catalog's own median margin and median delivery risk, so every product is judged against its real peers.</a:t>
            </a:r>
            <a:endParaRPr lang="en-US" sz="1250" dirty="0"/>
          </a:p>
        </p:txBody>
      </p:sp>
      <p:sp>
        <p:nvSpPr>
          <p:cNvPr id="7" name="Text 4"/>
          <p:cNvSpPr/>
          <p:nvPr/>
        </p:nvSpPr>
        <p:spPr>
          <a:xfrm>
            <a:off x="7680960" y="1508760"/>
            <a:ext cx="3870655" cy="9144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Every product in the catalog is scored on two things that matter: how much margin it keeps, and how often it fails to deliver on time. That split sorts the whole catalog into four groups.</a:t>
            </a:r>
            <a:endParaRPr lang="en-US" sz="1250" dirty="0"/>
          </a:p>
        </p:txBody>
      </p:sp>
      <p:sp>
        <p:nvSpPr>
          <p:cNvPr id="8" name="Shape 5"/>
          <p:cNvSpPr/>
          <p:nvPr/>
        </p:nvSpPr>
        <p:spPr>
          <a:xfrm>
            <a:off x="7680960" y="2642616"/>
            <a:ext cx="146304" cy="146304"/>
          </a:xfrm>
          <a:prstGeom prst="ellipse">
            <a:avLst/>
          </a:prstGeom>
          <a:solidFill>
            <a:srgbClr val="2BB489"/>
          </a:solidFill>
          <a:ln/>
        </p:spPr>
      </p:sp>
      <p:sp>
        <p:nvSpPr>
          <p:cNvPr id="9" name="Text 6"/>
          <p:cNvSpPr/>
          <p:nvPr/>
        </p:nvSpPr>
        <p:spPr>
          <a:xfrm>
            <a:off x="7955280" y="2551176"/>
            <a:ext cx="3596335"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Cash Generators</a:t>
            </a:r>
            <a:endParaRPr lang="en-US" sz="1250" dirty="0"/>
          </a:p>
        </p:txBody>
      </p:sp>
      <p:sp>
        <p:nvSpPr>
          <p:cNvPr id="10" name="Text 7"/>
          <p:cNvSpPr/>
          <p:nvPr/>
        </p:nvSpPr>
        <p:spPr>
          <a:xfrm>
            <a:off x="7955280" y="2825496"/>
            <a:ext cx="3596335" cy="457200"/>
          </a:xfrm>
          <a:prstGeom prst="rect">
            <a:avLst/>
          </a:prstGeom>
          <a:noFill/>
          <a:ln/>
        </p:spPr>
        <p:txBody>
          <a:bodyPr wrap="square" lIns="0" tIns="0" rIns="0" bIns="0" rtlCol="0" anchor="ctr"/>
          <a:lstStyle/>
          <a:p>
            <a:pPr marL="0" indent="0">
              <a:buNone/>
            </a:pPr>
            <a:r>
              <a:rPr lang="en-US" sz="1050" dirty="0">
                <a:solidFill>
                  <a:srgbClr val="D6D1C2"/>
                </a:solidFill>
                <a:latin typeface="Calibri" pitchFamily="34" charset="0"/>
                <a:ea typeface="Calibri" pitchFamily="34" charset="-122"/>
                <a:cs typeface="Calibri" pitchFamily="34" charset="-120"/>
              </a:rPr>
              <a:t>Good margin, low risk. The products worth protecting.</a:t>
            </a:r>
            <a:endParaRPr lang="en-US" sz="1050" dirty="0"/>
          </a:p>
        </p:txBody>
      </p:sp>
      <p:sp>
        <p:nvSpPr>
          <p:cNvPr id="11" name="Shape 8"/>
          <p:cNvSpPr/>
          <p:nvPr/>
        </p:nvSpPr>
        <p:spPr>
          <a:xfrm>
            <a:off x="7680960" y="3392424"/>
            <a:ext cx="146304" cy="146304"/>
          </a:xfrm>
          <a:prstGeom prst="ellipse">
            <a:avLst/>
          </a:prstGeom>
          <a:solidFill>
            <a:srgbClr val="E0A458"/>
          </a:solidFill>
          <a:ln/>
        </p:spPr>
      </p:sp>
      <p:sp>
        <p:nvSpPr>
          <p:cNvPr id="12" name="Text 9"/>
          <p:cNvSpPr/>
          <p:nvPr/>
        </p:nvSpPr>
        <p:spPr>
          <a:xfrm>
            <a:off x="7955280" y="3300984"/>
            <a:ext cx="3596335"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Operational Risks</a:t>
            </a:r>
            <a:endParaRPr lang="en-US" sz="1250" dirty="0"/>
          </a:p>
        </p:txBody>
      </p:sp>
      <p:sp>
        <p:nvSpPr>
          <p:cNvPr id="13" name="Text 10"/>
          <p:cNvSpPr/>
          <p:nvPr/>
        </p:nvSpPr>
        <p:spPr>
          <a:xfrm>
            <a:off x="7955280" y="3575304"/>
            <a:ext cx="3596335" cy="457200"/>
          </a:xfrm>
          <a:prstGeom prst="rect">
            <a:avLst/>
          </a:prstGeom>
          <a:noFill/>
          <a:ln/>
        </p:spPr>
        <p:txBody>
          <a:bodyPr wrap="square" lIns="0" tIns="0" rIns="0" bIns="0" rtlCol="0" anchor="ctr"/>
          <a:lstStyle/>
          <a:p>
            <a:pPr marL="0" indent="0">
              <a:buNone/>
            </a:pPr>
            <a:r>
              <a:rPr lang="en-US" sz="1050" dirty="0">
                <a:solidFill>
                  <a:srgbClr val="D6D1C2"/>
                </a:solidFill>
                <a:latin typeface="Calibri" pitchFamily="34" charset="0"/>
                <a:ea typeface="Calibri" pitchFamily="34" charset="-122"/>
                <a:cs typeface="Calibri" pitchFamily="34" charset="-120"/>
              </a:rPr>
              <a:t>Decent margin, but failing on delivery often enough to threaten it.</a:t>
            </a:r>
            <a:endParaRPr lang="en-US" sz="1050" dirty="0"/>
          </a:p>
        </p:txBody>
      </p:sp>
      <p:sp>
        <p:nvSpPr>
          <p:cNvPr id="14" name="Shape 11"/>
          <p:cNvSpPr/>
          <p:nvPr/>
        </p:nvSpPr>
        <p:spPr>
          <a:xfrm>
            <a:off x="7680960" y="4142232"/>
            <a:ext cx="146304" cy="146304"/>
          </a:xfrm>
          <a:prstGeom prst="ellipse">
            <a:avLst/>
          </a:prstGeom>
          <a:solidFill>
            <a:srgbClr val="D6D1C2"/>
          </a:solidFill>
          <a:ln/>
        </p:spPr>
      </p:sp>
      <p:sp>
        <p:nvSpPr>
          <p:cNvPr id="15" name="Text 12"/>
          <p:cNvSpPr/>
          <p:nvPr/>
        </p:nvSpPr>
        <p:spPr>
          <a:xfrm>
            <a:off x="7955280" y="4050792"/>
            <a:ext cx="3596335"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Underperformers</a:t>
            </a:r>
            <a:endParaRPr lang="en-US" sz="1250" dirty="0"/>
          </a:p>
        </p:txBody>
      </p:sp>
      <p:sp>
        <p:nvSpPr>
          <p:cNvPr id="16" name="Text 13"/>
          <p:cNvSpPr/>
          <p:nvPr/>
        </p:nvSpPr>
        <p:spPr>
          <a:xfrm>
            <a:off x="7955280" y="4325112"/>
            <a:ext cx="3596335" cy="457200"/>
          </a:xfrm>
          <a:prstGeom prst="rect">
            <a:avLst/>
          </a:prstGeom>
          <a:noFill/>
          <a:ln/>
        </p:spPr>
        <p:txBody>
          <a:bodyPr wrap="square" lIns="0" tIns="0" rIns="0" bIns="0" rtlCol="0" anchor="ctr"/>
          <a:lstStyle/>
          <a:p>
            <a:pPr marL="0" indent="0">
              <a:buNone/>
            </a:pPr>
            <a:r>
              <a:rPr lang="en-US" sz="1050" dirty="0">
                <a:solidFill>
                  <a:srgbClr val="D6D1C2"/>
                </a:solidFill>
                <a:latin typeface="Calibri" pitchFamily="34" charset="0"/>
                <a:ea typeface="Calibri" pitchFamily="34" charset="-122"/>
                <a:cs typeface="Calibri" pitchFamily="34" charset="-120"/>
              </a:rPr>
              <a:t>Margin already thin, even before anything goes wrong.</a:t>
            </a:r>
            <a:endParaRPr lang="en-US" sz="1050" dirty="0"/>
          </a:p>
        </p:txBody>
      </p:sp>
      <p:sp>
        <p:nvSpPr>
          <p:cNvPr id="17" name="Shape 14"/>
          <p:cNvSpPr/>
          <p:nvPr/>
        </p:nvSpPr>
        <p:spPr>
          <a:xfrm>
            <a:off x="7680960" y="4892040"/>
            <a:ext cx="146304" cy="146304"/>
          </a:xfrm>
          <a:prstGeom prst="ellipse">
            <a:avLst/>
          </a:prstGeom>
          <a:solidFill>
            <a:srgbClr val="E36B3E"/>
          </a:solidFill>
          <a:ln/>
        </p:spPr>
      </p:sp>
      <p:sp>
        <p:nvSpPr>
          <p:cNvPr id="18" name="Text 15"/>
          <p:cNvSpPr/>
          <p:nvPr/>
        </p:nvSpPr>
        <p:spPr>
          <a:xfrm>
            <a:off x="7955280" y="4800600"/>
            <a:ext cx="3596335"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Cut Candidates</a:t>
            </a:r>
            <a:endParaRPr lang="en-US" sz="1250" dirty="0"/>
          </a:p>
        </p:txBody>
      </p:sp>
      <p:sp>
        <p:nvSpPr>
          <p:cNvPr id="19" name="Text 16"/>
          <p:cNvSpPr/>
          <p:nvPr/>
        </p:nvSpPr>
        <p:spPr>
          <a:xfrm>
            <a:off x="7955280" y="5074920"/>
            <a:ext cx="3596335" cy="457200"/>
          </a:xfrm>
          <a:prstGeom prst="rect">
            <a:avLst/>
          </a:prstGeom>
          <a:noFill/>
          <a:ln/>
        </p:spPr>
        <p:txBody>
          <a:bodyPr wrap="square" lIns="0" tIns="0" rIns="0" bIns="0" rtlCol="0" anchor="ctr"/>
          <a:lstStyle/>
          <a:p>
            <a:pPr marL="0" indent="0">
              <a:buNone/>
            </a:pPr>
            <a:r>
              <a:rPr lang="en-US" sz="1050" dirty="0">
                <a:solidFill>
                  <a:srgbClr val="D6D1C2"/>
                </a:solidFill>
                <a:latin typeface="Calibri" pitchFamily="34" charset="0"/>
                <a:ea typeface="Calibri" pitchFamily="34" charset="-122"/>
                <a:cs typeface="Calibri" pitchFamily="34" charset="-120"/>
              </a:rPr>
              <a:t>Weak margin and high delivery failure. 28 products, 24% of the catalog. Review by cause before cutting.</a:t>
            </a:r>
            <a:endParaRPr lang="en-US" sz="1050" dirty="0"/>
          </a:p>
        </p:txBody>
      </p:sp>
      <p:sp>
        <p:nvSpPr>
          <p:cNvPr id="20" name="Text 17"/>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21" name="Text 18"/>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Revenue Trap: Products That Sell Well and Lose Money</a:t>
            </a:r>
            <a:endParaRPr lang="en-US" sz="3000" dirty="0"/>
          </a:p>
        </p:txBody>
      </p:sp>
      <p:sp>
        <p:nvSpPr>
          <p:cNvPr id="3" name="Shape 1"/>
          <p:cNvSpPr/>
          <p:nvPr/>
        </p:nvSpPr>
        <p:spPr>
          <a:xfrm>
            <a:off x="640080" y="1417320"/>
            <a:ext cx="6400800" cy="3108960"/>
          </a:xfrm>
          <a:prstGeom prst="roundRect">
            <a:avLst>
              <a:gd name="adj" fmla="val 1765"/>
            </a:avLst>
          </a:prstGeom>
          <a:solidFill>
            <a:srgbClr val="FFFFFF"/>
          </a:solidFill>
          <a:ln/>
          <a:effectLst>
            <a:outerShdw blurRad="101600" dist="38100" dir="2700000" algn="bl" rotWithShape="0">
              <a:srgbClr val="000000">
                <a:alpha val="35000"/>
              </a:srgbClr>
            </a:outerShdw>
          </a:effectLst>
        </p:spPr>
      </p:sp>
      <p:pic>
        <p:nvPicPr>
          <p:cNvPr id="4" name="Image 0" descr="ecommerce-revenue-illusion-audit/assets/report_figures/revenue_trap_section.png"/>
          <p:cNvPicPr>
            <a:picLocks noChangeAspect="1"/>
          </p:cNvPicPr>
          <p:nvPr/>
        </p:nvPicPr>
        <p:blipFill>
          <a:blip r:embed="rId3"/>
          <a:stretch>
            <a:fillRect/>
          </a:stretch>
        </p:blipFill>
        <p:spPr>
          <a:xfrm>
            <a:off x="749808" y="1691640"/>
            <a:ext cx="6181344" cy="2569464"/>
          </a:xfrm>
          <a:prstGeom prst="rect">
            <a:avLst/>
          </a:prstGeom>
        </p:spPr>
      </p:pic>
      <p:sp>
        <p:nvSpPr>
          <p:cNvPr id="5" name="Text 2"/>
          <p:cNvSpPr/>
          <p:nvPr/>
        </p:nvSpPr>
        <p:spPr>
          <a:xfrm>
            <a:off x="7406640" y="1508760"/>
            <a:ext cx="4144975" cy="13716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SOLE E35 Elliptical ranks 36th out of 118 products by revenue. In profit, it ranks dead last. It is net negative over three years while showing up as a respectable mid-tier seller on any standard sales report.</a:t>
            </a:r>
            <a:endParaRPr lang="en-US" sz="1250" dirty="0"/>
          </a:p>
        </p:txBody>
      </p:sp>
      <p:sp>
        <p:nvSpPr>
          <p:cNvPr id="6" name="Text 3"/>
          <p:cNvSpPr/>
          <p:nvPr/>
        </p:nvSpPr>
        <p:spPr>
          <a:xfrm>
            <a:off x="7406640" y="2880360"/>
            <a:ext cx="4144975" cy="9144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This is not one unlucky product. 44 products in this catalog follow the same pattern: strong revenue, weak or negative profit.</a:t>
            </a:r>
            <a:endParaRPr lang="en-US" sz="1250" dirty="0"/>
          </a:p>
        </p:txBody>
      </p:sp>
      <p:sp>
        <p:nvSpPr>
          <p:cNvPr id="7" name="Shape 4"/>
          <p:cNvSpPr/>
          <p:nvPr/>
        </p:nvSpPr>
        <p:spPr>
          <a:xfrm>
            <a:off x="7406640" y="3794760"/>
            <a:ext cx="4144975" cy="1371600"/>
          </a:xfrm>
          <a:prstGeom prst="roundRect">
            <a:avLst>
              <a:gd name="adj" fmla="val 4000"/>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8" name="Text 5"/>
          <p:cNvSpPr/>
          <p:nvPr/>
        </p:nvSpPr>
        <p:spPr>
          <a:xfrm>
            <a:off x="7589520" y="3886200"/>
            <a:ext cx="1280160" cy="731520"/>
          </a:xfrm>
          <a:prstGeom prst="rect">
            <a:avLst/>
          </a:prstGeom>
          <a:noFill/>
          <a:ln/>
        </p:spPr>
        <p:txBody>
          <a:bodyPr wrap="square" lIns="0" tIns="0" rIns="0" bIns="0" rtlCol="0" anchor="ctr"/>
          <a:lstStyle/>
          <a:p>
            <a:pPr marL="0" indent="0">
              <a:buNone/>
            </a:pPr>
            <a:r>
              <a:rPr lang="en-US" sz="3400" b="1" dirty="0">
                <a:solidFill>
                  <a:srgbClr val="E36B3E"/>
                </a:solidFill>
                <a:latin typeface="Cambria" pitchFamily="34" charset="0"/>
                <a:ea typeface="Cambria" pitchFamily="34" charset="-122"/>
                <a:cs typeface="Cambria" pitchFamily="34" charset="-120"/>
              </a:rPr>
              <a:t>44</a:t>
            </a:r>
            <a:endParaRPr lang="en-US" sz="3400" dirty="0"/>
          </a:p>
        </p:txBody>
      </p:sp>
      <p:sp>
        <p:nvSpPr>
          <p:cNvPr id="9" name="Text 6"/>
          <p:cNvSpPr/>
          <p:nvPr/>
        </p:nvSpPr>
        <p:spPr>
          <a:xfrm>
            <a:off x="8961120" y="3886200"/>
            <a:ext cx="2407615" cy="1143000"/>
          </a:xfrm>
          <a:prstGeom prst="rect">
            <a:avLst/>
          </a:prstGeom>
          <a:noFill/>
          <a:ln/>
        </p:spPr>
        <p:txBody>
          <a:bodyPr wrap="square" lIns="0" tIns="0" rIns="0" bIns="0" rtlCol="0" anchor="ctr"/>
          <a:lstStyle/>
          <a:p>
            <a:pPr marL="0" indent="0">
              <a:buNone/>
            </a:pPr>
            <a:r>
              <a:rPr lang="en-US" sz="1100" dirty="0">
                <a:solidFill>
                  <a:srgbClr val="D6D1C2"/>
                </a:solidFill>
                <a:latin typeface="Calibri" pitchFamily="34" charset="0"/>
                <a:ea typeface="Calibri" pitchFamily="34" charset="-122"/>
                <a:cs typeface="Calibri" pitchFamily="34" charset="-120"/>
              </a:rPr>
              <a:t>products show this pattern. A revenue leaderboard ranks them higher than their profit deserves.</a:t>
            </a:r>
            <a:endParaRPr lang="en-US" sz="1100" dirty="0"/>
          </a:p>
        </p:txBody>
      </p:sp>
      <p:sp>
        <p:nvSpPr>
          <p:cNvPr id="10" name="Text 7"/>
          <p:cNvSpPr/>
          <p:nvPr/>
        </p:nvSpPr>
        <p:spPr>
          <a:xfrm>
            <a:off x="7406640" y="5394960"/>
            <a:ext cx="4144975" cy="731520"/>
          </a:xfrm>
          <a:prstGeom prst="rect">
            <a:avLst/>
          </a:prstGeom>
          <a:noFill/>
          <a:ln/>
        </p:spPr>
        <p:txBody>
          <a:bodyPr wrap="square" lIns="0" tIns="0" rIns="0" bIns="0" rtlCol="0" anchor="ctr"/>
          <a:lstStyle/>
          <a:p>
            <a:pPr marL="0" indent="0">
              <a:buNone/>
            </a:pPr>
            <a:r>
              <a:rPr lang="en-US" sz="1050" i="1" dirty="0">
                <a:solidFill>
                  <a:srgbClr val="D6D1C2"/>
                </a:solidFill>
                <a:latin typeface="Calibri" pitchFamily="34" charset="0"/>
                <a:ea typeface="Calibri" pitchFamily="34" charset="-122"/>
                <a:cs typeface="Calibri" pitchFamily="34" charset="-120"/>
              </a:rPr>
              <a:t>SOLE E35 and SOLE E25 Ellipticals are net negative across their entire three year history, not just in a bad month.</a:t>
            </a:r>
            <a:endParaRPr lang="en-US" sz="1050" dirty="0"/>
          </a:p>
        </p:txBody>
      </p:sp>
      <p:sp>
        <p:nvSpPr>
          <p:cNvPr id="11" name="Text 8"/>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12" name="Text 9"/>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Cost of Premium Shipping</a:t>
            </a:r>
            <a:endParaRPr lang="en-US" sz="3000" dirty="0"/>
          </a:p>
        </p:txBody>
      </p:sp>
      <p:sp>
        <p:nvSpPr>
          <p:cNvPr id="3" name="Shape 1"/>
          <p:cNvSpPr/>
          <p:nvPr/>
        </p:nvSpPr>
        <p:spPr>
          <a:xfrm>
            <a:off x="640080" y="1417320"/>
            <a:ext cx="6035040" cy="4434840"/>
          </a:xfrm>
          <a:prstGeom prst="roundRect">
            <a:avLst>
              <a:gd name="adj" fmla="val 1237"/>
            </a:avLst>
          </a:prstGeom>
          <a:solidFill>
            <a:srgbClr val="FFFFFF"/>
          </a:solidFill>
          <a:ln/>
          <a:effectLst>
            <a:outerShdw blurRad="101600" dist="38100" dir="2700000" algn="bl" rotWithShape="0">
              <a:srgbClr val="000000">
                <a:alpha val="35000"/>
              </a:srgbClr>
            </a:outerShdw>
          </a:effectLst>
        </p:spPr>
      </p:sp>
      <p:pic>
        <p:nvPicPr>
          <p:cNvPr id="4" name="Image 0" descr="ecommerce-revenue-illusion-audit/assets/report_figures/shipping_reality.png"/>
          <p:cNvPicPr>
            <a:picLocks noChangeAspect="1"/>
          </p:cNvPicPr>
          <p:nvPr/>
        </p:nvPicPr>
        <p:blipFill>
          <a:blip r:embed="rId3"/>
          <a:stretch>
            <a:fillRect/>
          </a:stretch>
        </p:blipFill>
        <p:spPr>
          <a:xfrm>
            <a:off x="777240" y="2148840"/>
            <a:ext cx="5760720" cy="2724912"/>
          </a:xfrm>
          <a:prstGeom prst="rect">
            <a:avLst/>
          </a:prstGeom>
        </p:spPr>
      </p:pic>
      <p:sp>
        <p:nvSpPr>
          <p:cNvPr id="5" name="Shape 2"/>
          <p:cNvSpPr/>
          <p:nvPr/>
        </p:nvSpPr>
        <p:spPr>
          <a:xfrm>
            <a:off x="7040880" y="1508760"/>
            <a:ext cx="4510735" cy="1234440"/>
          </a:xfrm>
          <a:prstGeom prst="roundRect">
            <a:avLst>
              <a:gd name="adj" fmla="val 4444"/>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6" name="Text 3"/>
          <p:cNvSpPr/>
          <p:nvPr/>
        </p:nvSpPr>
        <p:spPr>
          <a:xfrm>
            <a:off x="7223760" y="1600200"/>
            <a:ext cx="1828800" cy="777240"/>
          </a:xfrm>
          <a:prstGeom prst="rect">
            <a:avLst/>
          </a:prstGeom>
          <a:noFill/>
          <a:ln/>
        </p:spPr>
        <p:txBody>
          <a:bodyPr wrap="square" lIns="0" tIns="0" rIns="0" bIns="0" rtlCol="0" anchor="ctr"/>
          <a:lstStyle/>
          <a:p>
            <a:pPr marL="0" indent="0">
              <a:buNone/>
            </a:pPr>
            <a:r>
              <a:rPr lang="en-US" sz="3200" b="1" dirty="0">
                <a:solidFill>
                  <a:srgbClr val="E36B3E"/>
                </a:solidFill>
                <a:latin typeface="Cambria" pitchFamily="34" charset="0"/>
                <a:ea typeface="Cambria" pitchFamily="34" charset="-122"/>
                <a:cs typeface="Cambria" pitchFamily="34" charset="-120"/>
              </a:rPr>
              <a:t>100%</a:t>
            </a:r>
            <a:endParaRPr lang="en-US" sz="3200" dirty="0"/>
          </a:p>
        </p:txBody>
      </p:sp>
      <p:sp>
        <p:nvSpPr>
          <p:cNvPr id="7" name="Text 4"/>
          <p:cNvSpPr/>
          <p:nvPr/>
        </p:nvSpPr>
        <p:spPr>
          <a:xfrm>
            <a:off x="8961120" y="1600200"/>
            <a:ext cx="2407615" cy="1051560"/>
          </a:xfrm>
          <a:prstGeom prst="rect">
            <a:avLst/>
          </a:prstGeom>
          <a:noFill/>
          <a:ln/>
        </p:spPr>
        <p:txBody>
          <a:bodyPr wrap="square" lIns="0" tIns="0" rIns="0" bIns="0" rtlCol="0" anchor="ctr"/>
          <a:lstStyle/>
          <a:p>
            <a:pPr marL="0" indent="0">
              <a:buNone/>
            </a:pPr>
            <a:r>
              <a:rPr lang="en-US" sz="1150" dirty="0">
                <a:solidFill>
                  <a:srgbClr val="D6D1C2"/>
                </a:solidFill>
                <a:latin typeface="Calibri" pitchFamily="34" charset="0"/>
                <a:ea typeface="Calibri" pitchFamily="34" charset="-122"/>
                <a:cs typeface="Calibri" pitchFamily="34" charset="-120"/>
              </a:rPr>
              <a:t>of First Class orders arrive late. Every order, every time.</a:t>
            </a:r>
            <a:endParaRPr lang="en-US" sz="1150" dirty="0"/>
          </a:p>
        </p:txBody>
      </p:sp>
      <p:sp>
        <p:nvSpPr>
          <p:cNvPr id="8" name="Shape 5"/>
          <p:cNvSpPr/>
          <p:nvPr/>
        </p:nvSpPr>
        <p:spPr>
          <a:xfrm>
            <a:off x="7040880" y="2880360"/>
            <a:ext cx="4510735" cy="1234440"/>
          </a:xfrm>
          <a:prstGeom prst="roundRect">
            <a:avLst>
              <a:gd name="adj" fmla="val 4444"/>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9" name="Text 6"/>
          <p:cNvSpPr/>
          <p:nvPr/>
        </p:nvSpPr>
        <p:spPr>
          <a:xfrm>
            <a:off x="7223760" y="2971800"/>
            <a:ext cx="2194560" cy="777240"/>
          </a:xfrm>
          <a:prstGeom prst="rect">
            <a:avLst/>
          </a:prstGeom>
          <a:noFill/>
          <a:ln/>
        </p:spPr>
        <p:txBody>
          <a:bodyPr wrap="square" lIns="0" tIns="0" rIns="0" bIns="0" rtlCol="0" anchor="ctr"/>
          <a:lstStyle/>
          <a:p>
            <a:pPr marL="0" indent="0">
              <a:buNone/>
            </a:pPr>
            <a:r>
              <a:rPr lang="en-US" sz="2400" b="1" dirty="0">
                <a:solidFill>
                  <a:srgbClr val="2BB489"/>
                </a:solidFill>
                <a:latin typeface="Cambria" pitchFamily="34" charset="0"/>
                <a:ea typeface="Cambria" pitchFamily="34" charset="-122"/>
                <a:cs typeface="Cambria" pitchFamily="34" charset="-120"/>
              </a:rPr>
              <a:t>Standard</a:t>
            </a:r>
            <a:endParaRPr lang="en-US" sz="2400" dirty="0"/>
          </a:p>
        </p:txBody>
      </p:sp>
      <p:sp>
        <p:nvSpPr>
          <p:cNvPr id="10" name="Text 7"/>
          <p:cNvSpPr/>
          <p:nvPr/>
        </p:nvSpPr>
        <p:spPr>
          <a:xfrm>
            <a:off x="9326880" y="2971800"/>
            <a:ext cx="2041855" cy="1051560"/>
          </a:xfrm>
          <a:prstGeom prst="rect">
            <a:avLst/>
          </a:prstGeom>
          <a:noFill/>
          <a:ln/>
        </p:spPr>
        <p:txBody>
          <a:bodyPr wrap="square" lIns="0" tIns="0" rIns="0" bIns="0" rtlCol="0" anchor="ctr"/>
          <a:lstStyle/>
          <a:p>
            <a:pPr marL="0" indent="0">
              <a:buNone/>
            </a:pPr>
            <a:r>
              <a:rPr lang="en-US" sz="1150" dirty="0">
                <a:solidFill>
                  <a:srgbClr val="D6D1C2"/>
                </a:solidFill>
                <a:latin typeface="Calibri" pitchFamily="34" charset="0"/>
                <a:ea typeface="Calibri" pitchFamily="34" charset="-122"/>
                <a:cs typeface="Calibri" pitchFamily="34" charset="-120"/>
              </a:rPr>
              <a:t>the cheapest tier available, is the most reliable shipping method in the entire catalog.</a:t>
            </a:r>
            <a:endParaRPr lang="en-US" sz="1150" dirty="0"/>
          </a:p>
        </p:txBody>
      </p:sp>
      <p:sp>
        <p:nvSpPr>
          <p:cNvPr id="11" name="Text 8"/>
          <p:cNvSpPr/>
          <p:nvPr/>
        </p:nvSpPr>
        <p:spPr>
          <a:xfrm>
            <a:off x="7040880" y="4343400"/>
            <a:ext cx="4510735" cy="155448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Customers paying the most for speed get the least reliable delivery. A 100% rate with a one-day average gap suggests the promised window may be mis-set. Check the delay distribution to confirm.</a:t>
            </a:r>
            <a:endParaRPr lang="en-US" sz="1200" dirty="0"/>
          </a:p>
        </p:txBody>
      </p:sp>
      <p:sp>
        <p:nvSpPr>
          <p:cNvPr id="12" name="Text 9"/>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13" name="Text 10"/>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Discounting Illusion</a:t>
            </a:r>
            <a:endParaRPr lang="en-US" sz="3000" dirty="0"/>
          </a:p>
        </p:txBody>
      </p:sp>
      <p:sp>
        <p:nvSpPr>
          <p:cNvPr id="3" name="Shape 1"/>
          <p:cNvSpPr/>
          <p:nvPr/>
        </p:nvSpPr>
        <p:spPr>
          <a:xfrm>
            <a:off x="640080" y="1188720"/>
            <a:ext cx="10911535" cy="3136392"/>
          </a:xfrm>
          <a:prstGeom prst="roundRect">
            <a:avLst>
              <a:gd name="adj" fmla="val 1967"/>
            </a:avLst>
          </a:prstGeom>
          <a:solidFill>
            <a:srgbClr val="FFFFFF"/>
          </a:solidFill>
          <a:ln/>
          <a:effectLst>
            <a:outerShdw blurRad="101600" dist="38100" dir="2700000" algn="bl" rotWithShape="0">
              <a:srgbClr val="000000">
                <a:alpha val="35000"/>
              </a:srgbClr>
            </a:outerShdw>
          </a:effectLst>
        </p:spPr>
      </p:sp>
      <p:pic>
        <p:nvPicPr>
          <p:cNvPr id="4" name="Image 0"/>
          <p:cNvPicPr>
            <a:picLocks noChangeAspect="1"/>
          </p:cNvPicPr>
          <p:nvPr/>
        </p:nvPicPr>
        <p:blipFill>
          <a:blip r:embed="rId3"/>
          <a:srcRect/>
          <a:stretch/>
        </p:blipFill>
        <p:spPr>
          <a:xfrm>
            <a:off x="971774" y="1228799"/>
            <a:ext cx="10252038" cy="3087169"/>
          </a:xfrm>
          <a:prstGeom prst="rect">
            <a:avLst/>
          </a:prstGeom>
        </p:spPr>
      </p:pic>
      <p:sp>
        <p:nvSpPr>
          <p:cNvPr id="5" name="Shape 2"/>
          <p:cNvSpPr/>
          <p:nvPr/>
        </p:nvSpPr>
        <p:spPr>
          <a:xfrm>
            <a:off x="640080" y="4480560"/>
            <a:ext cx="2556434" cy="1143000"/>
          </a:xfrm>
          <a:prstGeom prst="roundRect">
            <a:avLst>
              <a:gd name="adj" fmla="val 4800"/>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6" name="Text 3"/>
          <p:cNvSpPr/>
          <p:nvPr/>
        </p:nvSpPr>
        <p:spPr>
          <a:xfrm>
            <a:off x="640080" y="4553712"/>
            <a:ext cx="2556434" cy="457200"/>
          </a:xfrm>
          <a:prstGeom prst="rect">
            <a:avLst/>
          </a:prstGeom>
          <a:noFill/>
          <a:ln/>
        </p:spPr>
        <p:txBody>
          <a:bodyPr wrap="square" lIns="0" tIns="0" rIns="0" bIns="0" rtlCol="0" anchor="ctr"/>
          <a:lstStyle/>
          <a:p>
            <a:pPr marL="0" indent="0" algn="ctr">
              <a:buNone/>
            </a:pPr>
            <a:r>
              <a:rPr lang="en-US" sz="1900" b="1" dirty="0">
                <a:solidFill>
                  <a:srgbClr val="E36B3E"/>
                </a:solidFill>
                <a:latin typeface="Cambria" pitchFamily="34" charset="0"/>
                <a:ea typeface="Cambria" pitchFamily="34" charset="-122"/>
                <a:cs typeface="Cambria" pitchFamily="34" charset="-120"/>
              </a:rPr>
              <a:t>93–97%</a:t>
            </a:r>
            <a:endParaRPr lang="en-US" sz="1900" dirty="0"/>
          </a:p>
        </p:txBody>
      </p:sp>
      <p:sp>
        <p:nvSpPr>
          <p:cNvPr id="7" name="Text 4"/>
          <p:cNvSpPr/>
          <p:nvPr/>
        </p:nvSpPr>
        <p:spPr>
          <a:xfrm>
            <a:off x="731520" y="4983480"/>
            <a:ext cx="2373554" cy="594360"/>
          </a:xfrm>
          <a:prstGeom prst="rect">
            <a:avLst/>
          </a:prstGeom>
          <a:noFill/>
          <a:ln/>
        </p:spPr>
        <p:txBody>
          <a:bodyPr wrap="square" lIns="0" tIns="0" rIns="0" bIns="0" rtlCol="0" anchor="ctr"/>
          <a:lstStyle/>
          <a:p>
            <a:pPr marL="0" indent="0" algn="ctr">
              <a:buNone/>
            </a:pPr>
            <a:r>
              <a:rPr lang="en-US" sz="950" dirty="0">
                <a:solidFill>
                  <a:srgbClr val="D6D1C2"/>
                </a:solidFill>
                <a:latin typeface="Calibri" pitchFamily="34" charset="0"/>
                <a:ea typeface="Calibri" pitchFamily="34" charset="-122"/>
                <a:cs typeface="Calibri" pitchFamily="34" charset="-120"/>
              </a:rPr>
              <a:t>of orders need a discount to sell, across almost the entire catalog</a:t>
            </a:r>
            <a:endParaRPr lang="en-US" sz="950" dirty="0"/>
          </a:p>
        </p:txBody>
      </p:sp>
      <p:sp>
        <p:nvSpPr>
          <p:cNvPr id="8" name="Shape 5"/>
          <p:cNvSpPr/>
          <p:nvPr/>
        </p:nvSpPr>
        <p:spPr>
          <a:xfrm>
            <a:off x="3425114" y="4480560"/>
            <a:ext cx="2556434" cy="1143000"/>
          </a:xfrm>
          <a:prstGeom prst="roundRect">
            <a:avLst>
              <a:gd name="adj" fmla="val 4800"/>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9" name="Text 6"/>
          <p:cNvSpPr/>
          <p:nvPr/>
        </p:nvSpPr>
        <p:spPr>
          <a:xfrm>
            <a:off x="3425114" y="4553712"/>
            <a:ext cx="2556434" cy="457200"/>
          </a:xfrm>
          <a:prstGeom prst="rect">
            <a:avLst/>
          </a:prstGeom>
          <a:noFill/>
          <a:ln/>
        </p:spPr>
        <p:txBody>
          <a:bodyPr wrap="square" lIns="0" tIns="0" rIns="0" bIns="0" rtlCol="0" anchor="ctr"/>
          <a:lstStyle/>
          <a:p>
            <a:pPr marL="0" indent="0" algn="ctr">
              <a:buNone/>
            </a:pPr>
            <a:r>
              <a:rPr lang="en-US" sz="1900" b="1" dirty="0">
                <a:solidFill>
                  <a:srgbClr val="E36B3E"/>
                </a:solidFill>
                <a:latin typeface="Cambria" pitchFamily="34" charset="0"/>
                <a:ea typeface="Cambria" pitchFamily="34" charset="-122"/>
                <a:cs typeface="Cambria" pitchFamily="34" charset="-120"/>
              </a:rPr>
              <a:t>p = 0.73</a:t>
            </a:r>
            <a:endParaRPr lang="en-US" sz="1900" dirty="0"/>
          </a:p>
        </p:txBody>
      </p:sp>
      <p:sp>
        <p:nvSpPr>
          <p:cNvPr id="10" name="Text 7"/>
          <p:cNvSpPr/>
          <p:nvPr/>
        </p:nvSpPr>
        <p:spPr>
          <a:xfrm>
            <a:off x="3516554" y="4983480"/>
            <a:ext cx="2373554" cy="594360"/>
          </a:xfrm>
          <a:prstGeom prst="rect">
            <a:avLst/>
          </a:prstGeom>
          <a:noFill/>
          <a:ln/>
        </p:spPr>
        <p:txBody>
          <a:bodyPr wrap="square" lIns="0" tIns="0" rIns="0" bIns="0" rtlCol="0" anchor="ctr"/>
          <a:lstStyle/>
          <a:p>
            <a:pPr marL="0" indent="0" algn="ctr">
              <a:buNone/>
            </a:pPr>
            <a:r>
              <a:rPr lang="en-US" sz="950" dirty="0">
                <a:solidFill>
                  <a:srgbClr val="D6D1C2"/>
                </a:solidFill>
                <a:latin typeface="Calibri" pitchFamily="34" charset="0"/>
                <a:ea typeface="Calibri" pitchFamily="34" charset="-122"/>
                <a:cs typeface="Calibri" pitchFamily="34" charset="-120"/>
              </a:rPr>
              <a:t>no significant link between discount depth and margin</a:t>
            </a:r>
            <a:endParaRPr lang="en-US" sz="950" dirty="0"/>
          </a:p>
        </p:txBody>
      </p:sp>
      <p:sp>
        <p:nvSpPr>
          <p:cNvPr id="11" name="Shape 8"/>
          <p:cNvSpPr/>
          <p:nvPr/>
        </p:nvSpPr>
        <p:spPr>
          <a:xfrm>
            <a:off x="6210148" y="4480560"/>
            <a:ext cx="2556434" cy="1143000"/>
          </a:xfrm>
          <a:prstGeom prst="roundRect">
            <a:avLst>
              <a:gd name="adj" fmla="val 4800"/>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12" name="Text 9"/>
          <p:cNvSpPr/>
          <p:nvPr/>
        </p:nvSpPr>
        <p:spPr>
          <a:xfrm>
            <a:off x="6210148" y="4553712"/>
            <a:ext cx="2556434" cy="457200"/>
          </a:xfrm>
          <a:prstGeom prst="rect">
            <a:avLst/>
          </a:prstGeom>
          <a:noFill/>
          <a:ln/>
        </p:spPr>
        <p:txBody>
          <a:bodyPr wrap="square" lIns="0" tIns="0" rIns="0" bIns="0" rtlCol="0" anchor="ctr"/>
          <a:lstStyle/>
          <a:p>
            <a:pPr marL="0" indent="0" algn="ctr">
              <a:buNone/>
            </a:pPr>
            <a:r>
              <a:rPr lang="en-US" sz="1900" b="1" dirty="0">
                <a:solidFill>
                  <a:srgbClr val="E36B3E"/>
                </a:solidFill>
                <a:latin typeface="Cambria" pitchFamily="34" charset="0"/>
                <a:ea typeface="Cambria" pitchFamily="34" charset="-122"/>
                <a:cs typeface="Cambria" pitchFamily="34" charset="-120"/>
              </a:rPr>
              <a:t>94.4%</a:t>
            </a:r>
            <a:endParaRPr lang="en-US" sz="1900" dirty="0"/>
          </a:p>
        </p:txBody>
      </p:sp>
      <p:sp>
        <p:nvSpPr>
          <p:cNvPr id="13" name="Text 10"/>
          <p:cNvSpPr/>
          <p:nvPr/>
        </p:nvSpPr>
        <p:spPr>
          <a:xfrm>
            <a:off x="6301588" y="4983480"/>
            <a:ext cx="2373554" cy="594360"/>
          </a:xfrm>
          <a:prstGeom prst="rect">
            <a:avLst/>
          </a:prstGeom>
          <a:noFill/>
          <a:ln/>
        </p:spPr>
        <p:txBody>
          <a:bodyPr wrap="square" lIns="0" tIns="0" rIns="0" bIns="0" rtlCol="0" anchor="ctr"/>
          <a:lstStyle/>
          <a:p>
            <a:pPr marL="0" indent="0" algn="ctr">
              <a:buNone/>
            </a:pPr>
            <a:r>
              <a:rPr lang="en-US" sz="950" dirty="0">
                <a:solidFill>
                  <a:srgbClr val="D6D1C2"/>
                </a:solidFill>
                <a:latin typeface="Calibri" pitchFamily="34" charset="0"/>
                <a:ea typeface="Calibri" pitchFamily="34" charset="-122"/>
                <a:cs typeface="Calibri" pitchFamily="34" charset="-120"/>
              </a:rPr>
              <a:t>of orders from the top 4 products still require a discount</a:t>
            </a:r>
            <a:endParaRPr lang="en-US" sz="950" dirty="0"/>
          </a:p>
        </p:txBody>
      </p:sp>
      <p:sp>
        <p:nvSpPr>
          <p:cNvPr id="14" name="Shape 11"/>
          <p:cNvSpPr/>
          <p:nvPr/>
        </p:nvSpPr>
        <p:spPr>
          <a:xfrm>
            <a:off x="8995181" y="4480560"/>
            <a:ext cx="2556434" cy="1143000"/>
          </a:xfrm>
          <a:prstGeom prst="roundRect">
            <a:avLst>
              <a:gd name="adj" fmla="val 4800"/>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15" name="Text 12"/>
          <p:cNvSpPr/>
          <p:nvPr/>
        </p:nvSpPr>
        <p:spPr>
          <a:xfrm>
            <a:off x="8995181" y="4553712"/>
            <a:ext cx="2556434" cy="457200"/>
          </a:xfrm>
          <a:prstGeom prst="rect">
            <a:avLst/>
          </a:prstGeom>
          <a:noFill/>
          <a:ln/>
        </p:spPr>
        <p:txBody>
          <a:bodyPr wrap="square" lIns="0" tIns="0" rIns="0" bIns="0" rtlCol="0" anchor="ctr"/>
          <a:lstStyle/>
          <a:p>
            <a:pPr marL="0" indent="0" algn="ctr">
              <a:buNone/>
            </a:pPr>
            <a:r>
              <a:rPr lang="en-US" sz="1900" b="1" dirty="0">
                <a:solidFill>
                  <a:srgbClr val="E36B3E"/>
                </a:solidFill>
                <a:latin typeface="Cambria" pitchFamily="34" charset="0"/>
                <a:ea typeface="Cambria" pitchFamily="34" charset="-122"/>
                <a:cs typeface="Cambria" pitchFamily="34" charset="-120"/>
              </a:rPr>
              <a:t>18.5%</a:t>
            </a:r>
            <a:endParaRPr lang="en-US" sz="1900" dirty="0"/>
          </a:p>
        </p:txBody>
      </p:sp>
      <p:sp>
        <p:nvSpPr>
          <p:cNvPr id="16" name="Text 13"/>
          <p:cNvSpPr/>
          <p:nvPr/>
        </p:nvSpPr>
        <p:spPr>
          <a:xfrm>
            <a:off x="9086621" y="4983480"/>
            <a:ext cx="2373554" cy="594360"/>
          </a:xfrm>
          <a:prstGeom prst="rect">
            <a:avLst/>
          </a:prstGeom>
          <a:noFill/>
          <a:ln/>
        </p:spPr>
        <p:txBody>
          <a:bodyPr wrap="square" lIns="0" tIns="0" rIns="0" bIns="0" rtlCol="0" anchor="ctr"/>
          <a:lstStyle/>
          <a:p>
            <a:pPr marL="0" indent="0" algn="ctr">
              <a:buNone/>
            </a:pPr>
            <a:r>
              <a:rPr lang="en-US" sz="950" dirty="0">
                <a:solidFill>
                  <a:srgbClr val="D6D1C2"/>
                </a:solidFill>
                <a:latin typeface="Calibri" pitchFamily="34" charset="0"/>
                <a:ea typeface="Calibri" pitchFamily="34" charset="-122"/>
                <a:cs typeface="Calibri" pitchFamily="34" charset="-120"/>
              </a:rPr>
              <a:t>of the top 4 products' orders still lose money</a:t>
            </a:r>
            <a:endParaRPr lang="en-US" sz="950" dirty="0"/>
          </a:p>
        </p:txBody>
      </p:sp>
      <p:sp>
        <p:nvSpPr>
          <p:cNvPr id="17" name="Text 14"/>
          <p:cNvSpPr/>
          <p:nvPr/>
        </p:nvSpPr>
        <p:spPr>
          <a:xfrm>
            <a:off x="640080" y="5779008"/>
            <a:ext cx="10911535" cy="457200"/>
          </a:xfrm>
          <a:prstGeom prst="rect">
            <a:avLst/>
          </a:prstGeom>
          <a:noFill/>
          <a:ln/>
        </p:spPr>
        <p:txBody>
          <a:bodyPr wrap="square" lIns="0" tIns="0" rIns="0" bIns="0"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The top 4 earn the most in dollars, yet 94.4% of their orders carry a discount. Discount depth does not explain which products earn less.</a:t>
            </a:r>
            <a:endParaRPr lang="en-US" sz="1150" dirty="0"/>
          </a:p>
        </p:txBody>
      </p:sp>
      <p:sp>
        <p:nvSpPr>
          <p:cNvPr id="18" name="Text 15"/>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19" name="Text 16"/>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Risk Score: One Number Per Product</a:t>
            </a:r>
            <a:endParaRPr lang="en-US" sz="3000" dirty="0"/>
          </a:p>
        </p:txBody>
      </p:sp>
      <p:sp>
        <p:nvSpPr>
          <p:cNvPr id="3" name="Shape 1"/>
          <p:cNvSpPr/>
          <p:nvPr/>
        </p:nvSpPr>
        <p:spPr>
          <a:xfrm>
            <a:off x="640080" y="1417320"/>
            <a:ext cx="5349240" cy="3794760"/>
          </a:xfrm>
          <a:prstGeom prst="roundRect">
            <a:avLst>
              <a:gd name="adj" fmla="val 1446"/>
            </a:avLst>
          </a:prstGeom>
          <a:solidFill>
            <a:srgbClr val="FFFFFF"/>
          </a:solidFill>
          <a:ln/>
          <a:effectLst>
            <a:outerShdw blurRad="101600" dist="38100" dir="2700000" algn="bl" rotWithShape="0">
              <a:srgbClr val="000000">
                <a:alpha val="35000"/>
              </a:srgbClr>
            </a:outerShdw>
          </a:effectLst>
        </p:spPr>
      </p:sp>
      <p:pic>
        <p:nvPicPr>
          <p:cNvPr id="4" name="Image 0" descr="risk_table_crop.png"/>
          <p:cNvPicPr>
            <a:picLocks noChangeAspect="1"/>
          </p:cNvPicPr>
          <p:nvPr/>
        </p:nvPicPr>
        <p:blipFill>
          <a:blip r:embed="rId3"/>
          <a:stretch>
            <a:fillRect/>
          </a:stretch>
        </p:blipFill>
        <p:spPr>
          <a:xfrm>
            <a:off x="777240" y="1691640"/>
            <a:ext cx="5074920" cy="3218688"/>
          </a:xfrm>
          <a:prstGeom prst="rect">
            <a:avLst/>
          </a:prstGeom>
        </p:spPr>
      </p:pic>
      <p:sp>
        <p:nvSpPr>
          <p:cNvPr id="5" name="Text 2"/>
          <p:cNvSpPr/>
          <p:nvPr/>
        </p:nvSpPr>
        <p:spPr>
          <a:xfrm>
            <a:off x="6355080" y="1508760"/>
            <a:ext cx="5196535" cy="12801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Every product gets one combined score, built from three signals: how often it fails to deliver, how dependent it is on discounting, and how far its profit rank has drifted from its revenue rank.</a:t>
            </a:r>
            <a:endParaRPr lang="en-US" sz="1250" dirty="0"/>
          </a:p>
        </p:txBody>
      </p:sp>
      <p:sp>
        <p:nvSpPr>
          <p:cNvPr id="6" name="Text 3"/>
          <p:cNvSpPr/>
          <p:nvPr/>
        </p:nvSpPr>
        <p:spPr>
          <a:xfrm>
            <a:off x="6355080" y="2834640"/>
            <a:ext cx="5196535" cy="13716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On its own, none of these three signals reliably predicts which products are heading for trouble. Combined into one score, it does. The score is checked against actual outcomes across the catalog, not based on a guess about which SKUs look risky.</a:t>
            </a:r>
            <a:endParaRPr lang="en-US" sz="1250" dirty="0"/>
          </a:p>
        </p:txBody>
      </p:sp>
      <p:sp>
        <p:nvSpPr>
          <p:cNvPr id="7" name="Shape 4"/>
          <p:cNvSpPr/>
          <p:nvPr/>
        </p:nvSpPr>
        <p:spPr>
          <a:xfrm>
            <a:off x="6355080" y="4343400"/>
            <a:ext cx="5196535" cy="1325880"/>
          </a:xfrm>
          <a:prstGeom prst="roundRect">
            <a:avLst>
              <a:gd name="adj" fmla="val 4138"/>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8" name="Text 5"/>
          <p:cNvSpPr/>
          <p:nvPr/>
        </p:nvSpPr>
        <p:spPr>
          <a:xfrm>
            <a:off x="6537960" y="4462272"/>
            <a:ext cx="4830775" cy="1097280"/>
          </a:xfrm>
          <a:prstGeom prst="rect">
            <a:avLst/>
          </a:prstGeom>
          <a:noFill/>
          <a:ln/>
        </p:spPr>
        <p:txBody>
          <a:bodyPr wrap="square" lIns="0" tIns="0" rIns="0" bIns="0" rtlCol="0" anchor="ctr"/>
          <a:lstStyle/>
          <a:p>
            <a:pPr marL="0" indent="0">
              <a:buNone/>
            </a:pPr>
            <a:r>
              <a:rPr lang="en-US" sz="1150" i="1" dirty="0">
                <a:solidFill>
                  <a:srgbClr val="D6D1C2"/>
                </a:solidFill>
                <a:latin typeface="Calibri" pitchFamily="34" charset="0"/>
                <a:ea typeface="Calibri" pitchFamily="34" charset="-122"/>
                <a:cs typeface="Calibri" pitchFamily="34" charset="-120"/>
              </a:rPr>
              <a:t>The value of this score is not retrospective. It flags a weakening product while it is still making sales, before the damage shows up as a quarter of disappointing revenue with no obvious cause.</a:t>
            </a:r>
            <a:endParaRPr lang="en-US" sz="1150" dirty="0"/>
          </a:p>
        </p:txBody>
      </p:sp>
      <p:sp>
        <p:nvSpPr>
          <p:cNvPr id="9" name="Text 6"/>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10" name="Text 7"/>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Each Scenario Costs</a:t>
            </a:r>
            <a:endParaRPr lang="en-US" sz="3000" dirty="0"/>
          </a:p>
        </p:txBody>
      </p:sp>
      <p:sp>
        <p:nvSpPr>
          <p:cNvPr id="3" name="Shape 1"/>
          <p:cNvSpPr/>
          <p:nvPr/>
        </p:nvSpPr>
        <p:spPr>
          <a:xfrm>
            <a:off x="640080" y="1371600"/>
            <a:ext cx="10911535" cy="2331720"/>
          </a:xfrm>
          <a:prstGeom prst="roundRect">
            <a:avLst>
              <a:gd name="adj" fmla="val 2353"/>
            </a:avLst>
          </a:prstGeom>
          <a:solidFill>
            <a:srgbClr val="FFFFFF"/>
          </a:solidFill>
          <a:ln/>
          <a:effectLst>
            <a:outerShdw blurRad="101600" dist="38100" dir="2700000" algn="bl" rotWithShape="0">
              <a:srgbClr val="000000">
                <a:alpha val="35000"/>
              </a:srgbClr>
            </a:outerShdw>
          </a:effectLst>
        </p:spPr>
      </p:sp>
      <p:pic>
        <p:nvPicPr>
          <p:cNvPr id="4" name="Image 0" descr="ecommerce-revenue-illusion-audit/assets/report_figures/scenario_comparison.png"/>
          <p:cNvPicPr>
            <a:picLocks noChangeAspect="1"/>
          </p:cNvPicPr>
          <p:nvPr/>
        </p:nvPicPr>
        <p:blipFill>
          <a:blip r:embed="rId3"/>
          <a:stretch>
            <a:fillRect/>
          </a:stretch>
        </p:blipFill>
        <p:spPr>
          <a:xfrm>
            <a:off x="914400" y="1481328"/>
            <a:ext cx="10362895" cy="2112264"/>
          </a:xfrm>
          <a:prstGeom prst="rect">
            <a:avLst/>
          </a:prstGeom>
        </p:spPr>
      </p:pic>
      <p:sp>
        <p:nvSpPr>
          <p:cNvPr id="5" name="Shape 2"/>
          <p:cNvSpPr/>
          <p:nvPr/>
        </p:nvSpPr>
        <p:spPr>
          <a:xfrm>
            <a:off x="640080" y="3931920"/>
            <a:ext cx="3454298" cy="2011680"/>
          </a:xfrm>
          <a:prstGeom prst="roundRect">
            <a:avLst>
              <a:gd name="adj" fmla="val 2727"/>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6" name="Shape 3"/>
          <p:cNvSpPr/>
          <p:nvPr/>
        </p:nvSpPr>
        <p:spPr>
          <a:xfrm>
            <a:off x="822960" y="4096512"/>
            <a:ext cx="3088538" cy="292608"/>
          </a:xfrm>
          <a:prstGeom prst="roundRect">
            <a:avLst>
              <a:gd name="adj" fmla="val 50000"/>
            </a:avLst>
          </a:prstGeom>
          <a:solidFill>
            <a:srgbClr val="2BB489"/>
          </a:solidFill>
          <a:ln/>
        </p:spPr>
      </p:sp>
      <p:sp>
        <p:nvSpPr>
          <p:cNvPr id="7" name="Text 4"/>
          <p:cNvSpPr/>
          <p:nvPr/>
        </p:nvSpPr>
        <p:spPr>
          <a:xfrm>
            <a:off x="822960" y="4096512"/>
            <a:ext cx="3088538" cy="292608"/>
          </a:xfrm>
          <a:prstGeom prst="rect">
            <a:avLst/>
          </a:prstGeom>
          <a:noFill/>
          <a:ln/>
        </p:spPr>
        <p:txBody>
          <a:bodyPr wrap="square" lIns="0" tIns="0" rIns="0" bIns="0" rtlCol="0" anchor="ctr"/>
          <a:lstStyle/>
          <a:p>
            <a:pPr marL="0" indent="0" algn="ctr">
              <a:buNone/>
            </a:pPr>
            <a:r>
              <a:rPr lang="en-US" sz="900" b="1" kern="0" spc="100" dirty="0">
                <a:solidFill>
                  <a:srgbClr val="17160F"/>
                </a:solidFill>
                <a:latin typeface="Calibri" pitchFamily="34" charset="0"/>
                <a:ea typeface="Calibri" pitchFamily="34" charset="-122"/>
                <a:cs typeface="Calibri" pitchFamily="34" charset="-120"/>
              </a:rPr>
              <a:t>A DECISION</a:t>
            </a:r>
            <a:endParaRPr lang="en-US" sz="900" dirty="0"/>
          </a:p>
        </p:txBody>
      </p:sp>
      <p:sp>
        <p:nvSpPr>
          <p:cNvPr id="8" name="Text 5"/>
          <p:cNvSpPr/>
          <p:nvPr/>
        </p:nvSpPr>
        <p:spPr>
          <a:xfrm>
            <a:off x="822960" y="4480560"/>
            <a:ext cx="3088538"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Retiring the 28 Low Performers</a:t>
            </a:r>
            <a:endParaRPr lang="en-US" sz="1350" dirty="0"/>
          </a:p>
        </p:txBody>
      </p:sp>
      <p:sp>
        <p:nvSpPr>
          <p:cNvPr id="9" name="Text 6"/>
          <p:cNvSpPr/>
          <p:nvPr/>
        </p:nvSpPr>
        <p:spPr>
          <a:xfrm>
            <a:off x="822960" y="4983480"/>
            <a:ext cx="3088538" cy="914400"/>
          </a:xfrm>
          <a:prstGeom prst="rect">
            <a:avLst/>
          </a:prstGeom>
          <a:noFill/>
          <a:ln/>
        </p:spPr>
        <p:txBody>
          <a:bodyPr wrap="square" lIns="0" tIns="0" rIns="0" bIns="0" rtlCol="0" anchor="ctr"/>
          <a:lstStyle/>
          <a:p>
            <a:pPr marL="0" indent="0">
              <a:buNone/>
            </a:pPr>
            <a:r>
              <a:rPr lang="en-US" sz="950" dirty="0">
                <a:solidFill>
                  <a:srgbClr val="D6D1C2"/>
                </a:solidFill>
                <a:latin typeface="Calibri" pitchFamily="34" charset="0"/>
                <a:ea typeface="Calibri" pitchFamily="34" charset="-122"/>
                <a:cs typeface="Calibri" pitchFamily="34" charset="-120"/>
              </a:rPr>
              <a:t>Gives up about $67,000 of profit (1.8%). Handling and support savings are not measured here, so review by cause first.</a:t>
            </a:r>
            <a:endParaRPr lang="en-US" sz="950" dirty="0"/>
          </a:p>
        </p:txBody>
      </p:sp>
      <p:sp>
        <p:nvSpPr>
          <p:cNvPr id="10" name="Shape 7"/>
          <p:cNvSpPr/>
          <p:nvPr/>
        </p:nvSpPr>
        <p:spPr>
          <a:xfrm>
            <a:off x="4368698" y="3931920"/>
            <a:ext cx="3454298" cy="2011680"/>
          </a:xfrm>
          <a:prstGeom prst="roundRect">
            <a:avLst>
              <a:gd name="adj" fmla="val 2727"/>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11" name="Shape 8"/>
          <p:cNvSpPr/>
          <p:nvPr/>
        </p:nvSpPr>
        <p:spPr>
          <a:xfrm>
            <a:off x="4551578" y="4096512"/>
            <a:ext cx="3088538" cy="292608"/>
          </a:xfrm>
          <a:prstGeom prst="roundRect">
            <a:avLst>
              <a:gd name="adj" fmla="val 50000"/>
            </a:avLst>
          </a:prstGeom>
          <a:solidFill>
            <a:srgbClr val="E36B3E"/>
          </a:solidFill>
          <a:ln/>
        </p:spPr>
      </p:sp>
      <p:sp>
        <p:nvSpPr>
          <p:cNvPr id="12" name="Text 9"/>
          <p:cNvSpPr/>
          <p:nvPr/>
        </p:nvSpPr>
        <p:spPr>
          <a:xfrm>
            <a:off x="4551578" y="4096512"/>
            <a:ext cx="3088538" cy="292608"/>
          </a:xfrm>
          <a:prstGeom prst="rect">
            <a:avLst/>
          </a:prstGeom>
          <a:noFill/>
          <a:ln/>
        </p:spPr>
        <p:txBody>
          <a:bodyPr wrap="square" lIns="0" tIns="0" rIns="0" bIns="0" rtlCol="0" anchor="ctr"/>
          <a:lstStyle/>
          <a:p>
            <a:pPr marL="0" indent="0" algn="ctr">
              <a:buNone/>
            </a:pPr>
            <a:r>
              <a:rPr lang="en-US" sz="900" b="1" kern="0" spc="100" dirty="0">
                <a:solidFill>
                  <a:srgbClr val="17160F"/>
                </a:solidFill>
                <a:latin typeface="Calibri" pitchFamily="34" charset="0"/>
                <a:ea typeface="Calibri" pitchFamily="34" charset="-122"/>
                <a:cs typeface="Calibri" pitchFamily="34" charset="-120"/>
              </a:rPr>
              <a:t>LARGEST EXPOSURE</a:t>
            </a:r>
            <a:endParaRPr lang="en-US" sz="900" dirty="0"/>
          </a:p>
        </p:txBody>
      </p:sp>
      <p:sp>
        <p:nvSpPr>
          <p:cNvPr id="13" name="Text 10"/>
          <p:cNvSpPr/>
          <p:nvPr/>
        </p:nvSpPr>
        <p:spPr>
          <a:xfrm>
            <a:off x="4551578" y="4480560"/>
            <a:ext cx="3088538"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 Disruption to the Core 8</a:t>
            </a:r>
            <a:endParaRPr lang="en-US" sz="1350" dirty="0"/>
          </a:p>
        </p:txBody>
      </p:sp>
      <p:sp>
        <p:nvSpPr>
          <p:cNvPr id="14" name="Text 11"/>
          <p:cNvSpPr/>
          <p:nvPr/>
        </p:nvSpPr>
        <p:spPr>
          <a:xfrm>
            <a:off x="4551578" y="4983480"/>
            <a:ext cx="3088538" cy="914400"/>
          </a:xfrm>
          <a:prstGeom prst="rect">
            <a:avLst/>
          </a:prstGeom>
          <a:noFill/>
          <a:ln/>
        </p:spPr>
        <p:txBody>
          <a:bodyPr wrap="square" lIns="0" tIns="0" rIns="0" bIns="0" rtlCol="0" anchor="ctr"/>
          <a:lstStyle/>
          <a:p>
            <a:pPr marL="0" indent="0">
              <a:buNone/>
            </a:pPr>
            <a:r>
              <a:rPr lang="en-US" sz="950" dirty="0">
                <a:solidFill>
                  <a:srgbClr val="D6D1C2"/>
                </a:solidFill>
                <a:latin typeface="Calibri" pitchFamily="34" charset="0"/>
                <a:ea typeface="Calibri" pitchFamily="34" charset="-122"/>
                <a:cs typeface="Calibri" pitchFamily="34" charset="-120"/>
              </a:rPr>
              <a:t>A modeled 20% margin shock costs $643,000, more than the other 110 products earn combined.</a:t>
            </a:r>
            <a:endParaRPr lang="en-US" sz="950" dirty="0"/>
          </a:p>
        </p:txBody>
      </p:sp>
      <p:sp>
        <p:nvSpPr>
          <p:cNvPr id="15" name="Shape 12"/>
          <p:cNvSpPr/>
          <p:nvPr/>
        </p:nvSpPr>
        <p:spPr>
          <a:xfrm>
            <a:off x="8097317" y="3931920"/>
            <a:ext cx="3454298" cy="2011680"/>
          </a:xfrm>
          <a:prstGeom prst="roundRect">
            <a:avLst>
              <a:gd name="adj" fmla="val 2727"/>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16" name="Shape 13"/>
          <p:cNvSpPr/>
          <p:nvPr/>
        </p:nvSpPr>
        <p:spPr>
          <a:xfrm>
            <a:off x="8280197" y="4096512"/>
            <a:ext cx="3088538" cy="292608"/>
          </a:xfrm>
          <a:prstGeom prst="roundRect">
            <a:avLst>
              <a:gd name="adj" fmla="val 50000"/>
            </a:avLst>
          </a:prstGeom>
          <a:solidFill>
            <a:srgbClr val="F0997B"/>
          </a:solidFill>
          <a:ln/>
        </p:spPr>
      </p:sp>
      <p:sp>
        <p:nvSpPr>
          <p:cNvPr id="17" name="Text 14"/>
          <p:cNvSpPr/>
          <p:nvPr/>
        </p:nvSpPr>
        <p:spPr>
          <a:xfrm>
            <a:off x="8280197" y="4096512"/>
            <a:ext cx="3088538" cy="292608"/>
          </a:xfrm>
          <a:prstGeom prst="rect">
            <a:avLst/>
          </a:prstGeom>
          <a:noFill/>
          <a:ln/>
        </p:spPr>
        <p:txBody>
          <a:bodyPr wrap="square" lIns="0" tIns="0" rIns="0" bIns="0" rtlCol="0" anchor="ctr"/>
          <a:lstStyle/>
          <a:p>
            <a:pPr marL="0" indent="0" algn="ctr">
              <a:buNone/>
            </a:pPr>
            <a:r>
              <a:rPr lang="en-US" sz="900" b="1" kern="0" spc="100" dirty="0">
                <a:solidFill>
                  <a:srgbClr val="17160F"/>
                </a:solidFill>
                <a:latin typeface="Calibri" pitchFamily="34" charset="0"/>
                <a:ea typeface="Calibri" pitchFamily="34" charset="-122"/>
                <a:cs typeface="Calibri" pitchFamily="34" charset="-120"/>
              </a:rPr>
              <a:t>DIRECTIONAL ESTIMATE</a:t>
            </a:r>
            <a:endParaRPr lang="en-US" sz="900" dirty="0"/>
          </a:p>
        </p:txBody>
      </p:sp>
      <p:sp>
        <p:nvSpPr>
          <p:cNvPr id="18" name="Text 15"/>
          <p:cNvSpPr/>
          <p:nvPr/>
        </p:nvSpPr>
        <p:spPr>
          <a:xfrm>
            <a:off x="8280197" y="4480560"/>
            <a:ext cx="3088538"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If Conditions Compound</a:t>
            </a:r>
            <a:endParaRPr lang="en-US" sz="1350" dirty="0"/>
          </a:p>
        </p:txBody>
      </p:sp>
      <p:sp>
        <p:nvSpPr>
          <p:cNvPr id="19" name="Text 16"/>
          <p:cNvSpPr/>
          <p:nvPr/>
        </p:nvSpPr>
        <p:spPr>
          <a:xfrm>
            <a:off x="8280197" y="4983480"/>
            <a:ext cx="3088538" cy="914400"/>
          </a:xfrm>
          <a:prstGeom prst="rect">
            <a:avLst/>
          </a:prstGeom>
          <a:noFill/>
          <a:ln/>
        </p:spPr>
        <p:txBody>
          <a:bodyPr wrap="square" lIns="0" tIns="0" rIns="0" bIns="0" rtlCol="0" anchor="ctr"/>
          <a:lstStyle/>
          <a:p>
            <a:pPr marL="0" indent="0">
              <a:buNone/>
            </a:pPr>
            <a:r>
              <a:rPr lang="en-US" sz="950" dirty="0">
                <a:solidFill>
                  <a:srgbClr val="D6D1C2"/>
                </a:solidFill>
                <a:latin typeface="Calibri" pitchFamily="34" charset="0"/>
                <a:ea typeface="Calibri" pitchFamily="34" charset="-122"/>
                <a:cs typeface="Calibri" pitchFamily="34" charset="-120"/>
              </a:rPr>
              <a:t>+10% discount dependency and +15% delivery risk cost about $181,000. A directional estimate, not a forecast.</a:t>
            </a:r>
            <a:endParaRPr lang="en-US" sz="950" dirty="0"/>
          </a:p>
        </p:txBody>
      </p:sp>
      <p:sp>
        <p:nvSpPr>
          <p:cNvPr id="20" name="Text 17"/>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21" name="Text 18"/>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Data Rigor &amp; Methodology</a:t>
            </a:r>
            <a:endParaRPr lang="en-US" sz="3000" dirty="0"/>
          </a:p>
        </p:txBody>
      </p:sp>
      <p:sp>
        <p:nvSpPr>
          <p:cNvPr id="3" name="Text 1"/>
          <p:cNvSpPr/>
          <p:nvPr/>
        </p:nvSpPr>
        <p:spPr>
          <a:xfrm>
            <a:off x="640080" y="1325880"/>
            <a:ext cx="10911535" cy="640080"/>
          </a:xfrm>
          <a:prstGeom prst="rect">
            <a:avLst/>
          </a:prstGeom>
          <a:noFill/>
          <a:ln/>
        </p:spPr>
        <p:txBody>
          <a:bodyPr wrap="square" lIns="0" tIns="0" rIns="0" bIns="0" rtlCol="0" anchor="ctr"/>
          <a:lstStyle/>
          <a:p>
            <a:pPr marL="0" indent="0">
              <a:buNone/>
            </a:pPr>
            <a:r>
              <a:rPr lang="en-US" sz="1300" dirty="0">
                <a:solidFill>
                  <a:srgbClr val="D6D1C2"/>
                </a:solidFill>
                <a:latin typeface="Calibri" pitchFamily="34" charset="0"/>
                <a:ea typeface="Calibri" pitchFamily="34" charset="-122"/>
                <a:cs typeface="Calibri" pitchFamily="34" charset="-120"/>
              </a:rPr>
              <a:t>This audit is built on 180,519 order lines from the public DataCo dataset, spanning three years, loaded into a structured PostgreSQL warehouse and checked for data quality at every stage before a single chart was built.</a:t>
            </a:r>
            <a:endParaRPr lang="en-US" sz="1300" dirty="0"/>
          </a:p>
        </p:txBody>
      </p:sp>
      <p:sp>
        <p:nvSpPr>
          <p:cNvPr id="4" name="Shape 2"/>
          <p:cNvSpPr/>
          <p:nvPr/>
        </p:nvSpPr>
        <p:spPr>
          <a:xfrm>
            <a:off x="640080" y="2103120"/>
            <a:ext cx="3393338" cy="3246120"/>
          </a:xfrm>
          <a:prstGeom prst="roundRect">
            <a:avLst>
              <a:gd name="adj" fmla="val 2254"/>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5" name="Shape 3"/>
          <p:cNvSpPr/>
          <p:nvPr/>
        </p:nvSpPr>
        <p:spPr>
          <a:xfrm>
            <a:off x="914400" y="2331720"/>
            <a:ext cx="502920" cy="502920"/>
          </a:xfrm>
          <a:prstGeom prst="ellipse">
            <a:avLst/>
          </a:prstGeom>
          <a:solidFill>
            <a:srgbClr val="2BB489"/>
          </a:solidFill>
          <a:ln/>
        </p:spPr>
      </p:sp>
      <p:sp>
        <p:nvSpPr>
          <p:cNvPr id="6" name="Text 4"/>
          <p:cNvSpPr/>
          <p:nvPr/>
        </p:nvSpPr>
        <p:spPr>
          <a:xfrm>
            <a:off x="914400" y="2331720"/>
            <a:ext cx="502920" cy="502920"/>
          </a:xfrm>
          <a:prstGeom prst="rect">
            <a:avLst/>
          </a:prstGeom>
          <a:noFill/>
          <a:ln/>
        </p:spPr>
        <p:txBody>
          <a:bodyPr wrap="square" lIns="0" tIns="0" rIns="0" bIns="0" rtlCol="0" anchor="ctr"/>
          <a:lstStyle/>
          <a:p>
            <a:pPr marL="0" indent="0" algn="ctr">
              <a:buNone/>
            </a:pPr>
            <a:r>
              <a:rPr lang="en-US" sz="2000" b="1" dirty="0">
                <a:solidFill>
                  <a:srgbClr val="17160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914400" y="3017520"/>
            <a:ext cx="2844698" cy="5943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Established in SQL</a:t>
            </a:r>
            <a:endParaRPr lang="en-US" sz="1450" dirty="0"/>
          </a:p>
        </p:txBody>
      </p:sp>
      <p:sp>
        <p:nvSpPr>
          <p:cNvPr id="8" name="Text 6"/>
          <p:cNvSpPr/>
          <p:nvPr/>
        </p:nvSpPr>
        <p:spPr>
          <a:xfrm>
            <a:off x="914400" y="3657600"/>
            <a:ext cx="2844698" cy="1554480"/>
          </a:xfrm>
          <a:prstGeom prst="rect">
            <a:avLst/>
          </a:prstGeom>
          <a:noFill/>
          <a:ln/>
        </p:spPr>
        <p:txBody>
          <a:bodyPr wrap="square" lIns="0" tIns="0" rIns="0" bIns="0" rtlCol="0" anchor="ctr"/>
          <a:lstStyle/>
          <a:p>
            <a:pPr marL="0" indent="0">
              <a:buNone/>
            </a:pPr>
            <a:r>
              <a:rPr lang="en-US" sz="1050" dirty="0">
                <a:solidFill>
                  <a:srgbClr val="D6D1C2"/>
                </a:solidFill>
                <a:latin typeface="Calibri" pitchFamily="34" charset="0"/>
                <a:ea typeface="Calibri" pitchFamily="34" charset="-122"/>
                <a:cs typeface="Calibri" pitchFamily="34" charset="-120"/>
              </a:rPr>
              <a:t>Every number above was first established in SQL as ground truth, before anything was charted.</a:t>
            </a:r>
            <a:endParaRPr lang="en-US" sz="1050" dirty="0"/>
          </a:p>
        </p:txBody>
      </p:sp>
      <p:sp>
        <p:nvSpPr>
          <p:cNvPr id="9" name="Shape 7"/>
          <p:cNvSpPr/>
          <p:nvPr/>
        </p:nvSpPr>
        <p:spPr>
          <a:xfrm>
            <a:off x="4399178" y="2103120"/>
            <a:ext cx="3393338" cy="3246120"/>
          </a:xfrm>
          <a:prstGeom prst="roundRect">
            <a:avLst>
              <a:gd name="adj" fmla="val 2254"/>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10" name="Shape 8"/>
          <p:cNvSpPr/>
          <p:nvPr/>
        </p:nvSpPr>
        <p:spPr>
          <a:xfrm>
            <a:off x="4673498" y="2331720"/>
            <a:ext cx="502920" cy="502920"/>
          </a:xfrm>
          <a:prstGeom prst="ellipse">
            <a:avLst/>
          </a:prstGeom>
          <a:solidFill>
            <a:srgbClr val="2BB489"/>
          </a:solidFill>
          <a:ln/>
        </p:spPr>
      </p:sp>
      <p:sp>
        <p:nvSpPr>
          <p:cNvPr id="11" name="Text 9"/>
          <p:cNvSpPr/>
          <p:nvPr/>
        </p:nvSpPr>
        <p:spPr>
          <a:xfrm>
            <a:off x="4673498" y="2331720"/>
            <a:ext cx="502920" cy="502920"/>
          </a:xfrm>
          <a:prstGeom prst="rect">
            <a:avLst/>
          </a:prstGeom>
          <a:noFill/>
          <a:ln/>
        </p:spPr>
        <p:txBody>
          <a:bodyPr wrap="square" lIns="0" tIns="0" rIns="0" bIns="0" rtlCol="0" anchor="ctr"/>
          <a:lstStyle/>
          <a:p>
            <a:pPr marL="0" indent="0" algn="ctr">
              <a:buNone/>
            </a:pPr>
            <a:r>
              <a:rPr lang="en-US" sz="2000" b="1" dirty="0">
                <a:solidFill>
                  <a:srgbClr val="17160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4673498" y="3017520"/>
            <a:ext cx="2844698" cy="5943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Re-tested in Python</a:t>
            </a:r>
            <a:endParaRPr lang="en-US" sz="1450" dirty="0"/>
          </a:p>
        </p:txBody>
      </p:sp>
      <p:sp>
        <p:nvSpPr>
          <p:cNvPr id="13" name="Text 11"/>
          <p:cNvSpPr/>
          <p:nvPr/>
        </p:nvSpPr>
        <p:spPr>
          <a:xfrm>
            <a:off x="4673498" y="3657600"/>
            <a:ext cx="2844698" cy="1554480"/>
          </a:xfrm>
          <a:prstGeom prst="rect">
            <a:avLst/>
          </a:prstGeom>
          <a:noFill/>
          <a:ln/>
        </p:spPr>
        <p:txBody>
          <a:bodyPr wrap="square" lIns="0" tIns="0" rIns="0" bIns="0" rtlCol="0" anchor="ctr"/>
          <a:lstStyle/>
          <a:p>
            <a:pPr marL="0" indent="0">
              <a:buNone/>
            </a:pPr>
            <a:r>
              <a:rPr lang="en-US" sz="1050" dirty="0">
                <a:solidFill>
                  <a:srgbClr val="D6D1C2"/>
                </a:solidFill>
                <a:latin typeface="Calibri" pitchFamily="34" charset="0"/>
                <a:ea typeface="Calibri" pitchFamily="34" charset="-122"/>
                <a:cs typeface="Calibri" pitchFamily="34" charset="-120"/>
              </a:rPr>
              <a:t>Each number was then independently reproduced and statistically tested in Python to confirm it holds up and is not just noise in the dataset.</a:t>
            </a:r>
            <a:endParaRPr lang="en-US" sz="1050" dirty="0"/>
          </a:p>
        </p:txBody>
      </p:sp>
      <p:sp>
        <p:nvSpPr>
          <p:cNvPr id="14" name="Shape 12"/>
          <p:cNvSpPr/>
          <p:nvPr/>
        </p:nvSpPr>
        <p:spPr>
          <a:xfrm>
            <a:off x="8158277" y="2103120"/>
            <a:ext cx="3393338" cy="3246120"/>
          </a:xfrm>
          <a:prstGeom prst="roundRect">
            <a:avLst>
              <a:gd name="adj" fmla="val 2254"/>
            </a:avLst>
          </a:prstGeom>
          <a:solidFill>
            <a:srgbClr val="29271F"/>
          </a:solidFill>
          <a:ln w="12700">
            <a:solidFill>
              <a:srgbClr val="433E30"/>
            </a:solidFill>
            <a:prstDash val="solid"/>
          </a:ln>
          <a:effectLst>
            <a:outerShdw blurRad="101600" dist="38100" dir="2700000" algn="bl" rotWithShape="0">
              <a:srgbClr val="000000">
                <a:alpha val="35000"/>
              </a:srgbClr>
            </a:outerShdw>
          </a:effectLst>
        </p:spPr>
      </p:sp>
      <p:sp>
        <p:nvSpPr>
          <p:cNvPr id="15" name="Shape 13"/>
          <p:cNvSpPr/>
          <p:nvPr/>
        </p:nvSpPr>
        <p:spPr>
          <a:xfrm>
            <a:off x="8432597" y="2331720"/>
            <a:ext cx="502920" cy="502920"/>
          </a:xfrm>
          <a:prstGeom prst="ellipse">
            <a:avLst/>
          </a:prstGeom>
          <a:solidFill>
            <a:srgbClr val="2BB489"/>
          </a:solidFill>
          <a:ln/>
        </p:spPr>
      </p:sp>
      <p:sp>
        <p:nvSpPr>
          <p:cNvPr id="16" name="Text 14"/>
          <p:cNvSpPr/>
          <p:nvPr/>
        </p:nvSpPr>
        <p:spPr>
          <a:xfrm>
            <a:off x="8432597" y="2331720"/>
            <a:ext cx="502920" cy="502920"/>
          </a:xfrm>
          <a:prstGeom prst="rect">
            <a:avLst/>
          </a:prstGeom>
          <a:noFill/>
          <a:ln/>
        </p:spPr>
        <p:txBody>
          <a:bodyPr wrap="square" lIns="0" tIns="0" rIns="0" bIns="0" rtlCol="0" anchor="ctr"/>
          <a:lstStyle/>
          <a:p>
            <a:pPr marL="0" indent="0" algn="ctr">
              <a:buNone/>
            </a:pPr>
            <a:r>
              <a:rPr lang="en-US" sz="2000" b="1" dirty="0">
                <a:solidFill>
                  <a:srgbClr val="17160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8432597" y="3017520"/>
            <a:ext cx="2844698" cy="5943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Reported plainly either way</a:t>
            </a:r>
            <a:endParaRPr lang="en-US" sz="1450" dirty="0"/>
          </a:p>
        </p:txBody>
      </p:sp>
      <p:sp>
        <p:nvSpPr>
          <p:cNvPr id="18" name="Text 16"/>
          <p:cNvSpPr/>
          <p:nvPr/>
        </p:nvSpPr>
        <p:spPr>
          <a:xfrm>
            <a:off x="8432597" y="3657600"/>
            <a:ext cx="2844698" cy="1554480"/>
          </a:xfrm>
          <a:prstGeom prst="rect">
            <a:avLst/>
          </a:prstGeom>
          <a:noFill/>
          <a:ln/>
        </p:spPr>
        <p:txBody>
          <a:bodyPr wrap="square" lIns="0" tIns="0" rIns="0" bIns="0" rtlCol="0" anchor="ctr"/>
          <a:lstStyle/>
          <a:p>
            <a:pPr marL="0" indent="0">
              <a:buNone/>
            </a:pPr>
            <a:r>
              <a:rPr lang="en-US" sz="1050" dirty="0">
                <a:solidFill>
                  <a:srgbClr val="D6D1C2"/>
                </a:solidFill>
                <a:latin typeface="Calibri" pitchFamily="34" charset="0"/>
                <a:ea typeface="Calibri" pitchFamily="34" charset="-122"/>
                <a:cs typeface="Calibri" pitchFamily="34" charset="-120"/>
              </a:rPr>
              <a:t>Findings were only treated as confirmed once they passed hypothesis testing at a 95% confidence threshold. Where a relationship did not hold, such as discount depth and margin, that absence was reported as plainly as the findings that did hold.</a:t>
            </a:r>
            <a:endParaRPr lang="en-US" sz="1050" dirty="0"/>
          </a:p>
        </p:txBody>
      </p:sp>
      <p:sp>
        <p:nvSpPr>
          <p:cNvPr id="19" name="Text 17"/>
          <p:cNvSpPr/>
          <p:nvPr/>
        </p:nvSpPr>
        <p:spPr>
          <a:xfrm>
            <a:off x="640080" y="5577840"/>
            <a:ext cx="10911535" cy="320040"/>
          </a:xfrm>
          <a:prstGeom prst="rect">
            <a:avLst/>
          </a:prstGeom>
          <a:noFill/>
          <a:ln/>
        </p:spPr>
        <p:txBody>
          <a:bodyPr wrap="square" lIns="0" tIns="0" rIns="0" bIns="0" rtlCol="0" anchor="ctr"/>
          <a:lstStyle/>
          <a:p>
            <a:pPr marL="0" indent="0" algn="ctr">
              <a:buNone/>
            </a:pPr>
            <a:r>
              <a:rPr lang="en-US" sz="1100" i="1" dirty="0">
                <a:solidFill>
                  <a:srgbClr val="A39D8C"/>
                </a:solidFill>
                <a:latin typeface="Calibri" pitchFamily="34" charset="0"/>
                <a:ea typeface="Calibri" pitchFamily="34" charset="-122"/>
                <a:cs typeface="Calibri" pitchFamily="34" charset="-120"/>
              </a:rPr>
              <a:t>Nothing in this report is a guess dressed up as a conclusion.</a:t>
            </a:r>
            <a:endParaRPr lang="en-US" sz="1100" dirty="0"/>
          </a:p>
        </p:txBody>
      </p:sp>
      <p:sp>
        <p:nvSpPr>
          <p:cNvPr id="20" name="Text 18"/>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21" name="Text 19"/>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0F"/>
        </a:solidFill>
        <a:effectLst/>
      </p:bgPr>
    </p:bg>
    <p:spTree>
      <p:nvGrpSpPr>
        <p:cNvPr id="1" name=""/>
        <p:cNvGrpSpPr/>
        <p:nvPr/>
      </p:nvGrpSpPr>
      <p:grpSpPr>
        <a:xfrm>
          <a:off x="0" y="0"/>
          <a:ext cx="0" cy="0"/>
          <a:chOff x="0" y="0"/>
          <a:chExt cx="0" cy="0"/>
        </a:xfrm>
      </p:grpSpPr>
      <p:sp>
        <p:nvSpPr>
          <p:cNvPr id="2" name="Text 0"/>
          <p:cNvSpPr/>
          <p:nvPr/>
        </p:nvSpPr>
        <p:spPr>
          <a:xfrm>
            <a:off x="640080" y="777240"/>
            <a:ext cx="1091153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To Do Next</a:t>
            </a:r>
            <a:endParaRPr lang="en-US" sz="3000" dirty="0"/>
          </a:p>
        </p:txBody>
      </p:sp>
      <p:sp>
        <p:nvSpPr>
          <p:cNvPr id="3" name="Shape 1"/>
          <p:cNvSpPr/>
          <p:nvPr/>
        </p:nvSpPr>
        <p:spPr>
          <a:xfrm>
            <a:off x="640080" y="1709928"/>
            <a:ext cx="329184" cy="329184"/>
          </a:xfrm>
          <a:prstGeom prst="ellipse">
            <a:avLst/>
          </a:prstGeom>
          <a:solidFill>
            <a:srgbClr val="29271F"/>
          </a:solidFill>
          <a:ln/>
        </p:spPr>
      </p:sp>
      <p:sp>
        <p:nvSpPr>
          <p:cNvPr id="4" name="Text 2"/>
          <p:cNvSpPr/>
          <p:nvPr/>
        </p:nvSpPr>
        <p:spPr>
          <a:xfrm>
            <a:off x="640080" y="1709928"/>
            <a:ext cx="329184" cy="329184"/>
          </a:xfrm>
          <a:prstGeom prst="rect">
            <a:avLst/>
          </a:prstGeom>
          <a:noFill/>
          <a:ln/>
        </p:spPr>
        <p:txBody>
          <a:bodyPr wrap="square" lIns="0" tIns="0" rIns="0" bIns="0" rtlCol="0" anchor="ctr"/>
          <a:lstStyle/>
          <a:p>
            <a:pPr marL="0" indent="0" algn="ctr">
              <a:buNone/>
            </a:pPr>
            <a:r>
              <a:rPr lang="en-US" sz="1300" b="1" dirty="0">
                <a:solidFill>
                  <a:srgbClr val="2BB489"/>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43000" y="1636776"/>
            <a:ext cx="73609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Protect the core 8 products like they are the business.</a:t>
            </a:r>
            <a:endParaRPr lang="en-US" sz="1300" dirty="0"/>
          </a:p>
        </p:txBody>
      </p:sp>
      <p:sp>
        <p:nvSpPr>
          <p:cNvPr id="6" name="Text 4"/>
          <p:cNvSpPr/>
          <p:nvPr/>
        </p:nvSpPr>
        <p:spPr>
          <a:xfrm>
            <a:off x="1143000" y="1984248"/>
            <a:ext cx="7360920" cy="685800"/>
          </a:xfrm>
          <a:prstGeom prst="rect">
            <a:avLst/>
          </a:prstGeom>
          <a:noFill/>
          <a:ln/>
        </p:spPr>
        <p:txBody>
          <a:bodyPr wrap="square" lIns="0" tIns="0" rIns="0" bIns="0" rtlCol="0" anchor="ctr"/>
          <a:lstStyle/>
          <a:p>
            <a:pPr marL="0" indent="0">
              <a:buNone/>
            </a:pPr>
            <a:r>
              <a:rPr lang="en-US" sz="1100" dirty="0">
                <a:solidFill>
                  <a:srgbClr val="D6D1C2"/>
                </a:solidFill>
                <a:latin typeface="Calibri" pitchFamily="34" charset="0"/>
                <a:ea typeface="Calibri" pitchFamily="34" charset="-122"/>
                <a:cs typeface="Calibri" pitchFamily="34" charset="-120"/>
              </a:rPr>
              <a:t>Because they are. Lock in supplier terms, prioritize their fulfillment, and stop touching their pricing without a clear reason.</a:t>
            </a:r>
            <a:endParaRPr lang="en-US" sz="1100" dirty="0"/>
          </a:p>
        </p:txBody>
      </p:sp>
      <p:sp>
        <p:nvSpPr>
          <p:cNvPr id="7" name="Shape 5"/>
          <p:cNvSpPr/>
          <p:nvPr/>
        </p:nvSpPr>
        <p:spPr>
          <a:xfrm>
            <a:off x="640080" y="2788920"/>
            <a:ext cx="329184" cy="329184"/>
          </a:xfrm>
          <a:prstGeom prst="ellipse">
            <a:avLst/>
          </a:prstGeom>
          <a:solidFill>
            <a:srgbClr val="29271F"/>
          </a:solidFill>
          <a:ln/>
        </p:spPr>
      </p:sp>
      <p:sp>
        <p:nvSpPr>
          <p:cNvPr id="8" name="Text 6"/>
          <p:cNvSpPr/>
          <p:nvPr/>
        </p:nvSpPr>
        <p:spPr>
          <a:xfrm>
            <a:off x="640080" y="2788920"/>
            <a:ext cx="329184" cy="329184"/>
          </a:xfrm>
          <a:prstGeom prst="rect">
            <a:avLst/>
          </a:prstGeom>
          <a:noFill/>
          <a:ln/>
        </p:spPr>
        <p:txBody>
          <a:bodyPr wrap="square" lIns="0" tIns="0" rIns="0" bIns="0" rtlCol="0" anchor="ctr"/>
          <a:lstStyle/>
          <a:p>
            <a:pPr marL="0" indent="0" algn="ctr">
              <a:buNone/>
            </a:pPr>
            <a:r>
              <a:rPr lang="en-US" sz="1300" b="1" dirty="0">
                <a:solidFill>
                  <a:srgbClr val="2BB489"/>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43000" y="2715768"/>
            <a:ext cx="73609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Fix First Class, or reset its promise.</a:t>
            </a:r>
            <a:endParaRPr lang="en-US" sz="1300" dirty="0"/>
          </a:p>
        </p:txBody>
      </p:sp>
      <p:sp>
        <p:nvSpPr>
          <p:cNvPr id="10" name="Text 8"/>
          <p:cNvSpPr/>
          <p:nvPr/>
        </p:nvSpPr>
        <p:spPr>
          <a:xfrm>
            <a:off x="1143000" y="3063240"/>
            <a:ext cx="7360920" cy="685800"/>
          </a:xfrm>
          <a:prstGeom prst="rect">
            <a:avLst/>
          </a:prstGeom>
          <a:noFill/>
          <a:ln/>
        </p:spPr>
        <p:txBody>
          <a:bodyPr wrap="square" lIns="0" tIns="0" rIns="0" bIns="0" rtlCol="0" anchor="ctr"/>
          <a:lstStyle/>
          <a:p>
            <a:pPr marL="0" indent="0">
              <a:buNone/>
            </a:pPr>
            <a:r>
              <a:rPr lang="en-US" sz="1100" dirty="0">
                <a:solidFill>
                  <a:srgbClr val="D6D1C2"/>
                </a:solidFill>
                <a:latin typeface="Calibri" pitchFamily="34" charset="0"/>
                <a:ea typeface="Calibri" pitchFamily="34" charset="-122"/>
                <a:cs typeface="Calibri" pitchFamily="34" charset="-120"/>
              </a:rPr>
              <a:t>A tier that is late on every order is an active liability. Fix the process, or change the promised window to match what is delivered.</a:t>
            </a:r>
            <a:endParaRPr lang="en-US" sz="1100" dirty="0"/>
          </a:p>
        </p:txBody>
      </p:sp>
      <p:sp>
        <p:nvSpPr>
          <p:cNvPr id="11" name="Shape 9"/>
          <p:cNvSpPr/>
          <p:nvPr/>
        </p:nvSpPr>
        <p:spPr>
          <a:xfrm>
            <a:off x="640080" y="3867912"/>
            <a:ext cx="329184" cy="329184"/>
          </a:xfrm>
          <a:prstGeom prst="ellipse">
            <a:avLst/>
          </a:prstGeom>
          <a:solidFill>
            <a:srgbClr val="29271F"/>
          </a:solidFill>
          <a:ln/>
        </p:spPr>
      </p:sp>
      <p:sp>
        <p:nvSpPr>
          <p:cNvPr id="12" name="Text 10"/>
          <p:cNvSpPr/>
          <p:nvPr/>
        </p:nvSpPr>
        <p:spPr>
          <a:xfrm>
            <a:off x="640080" y="3867912"/>
            <a:ext cx="329184" cy="329184"/>
          </a:xfrm>
          <a:prstGeom prst="rect">
            <a:avLst/>
          </a:prstGeom>
          <a:noFill/>
          <a:ln/>
        </p:spPr>
        <p:txBody>
          <a:bodyPr wrap="square" lIns="0" tIns="0" rIns="0" bIns="0" rtlCol="0" anchor="ctr"/>
          <a:lstStyle/>
          <a:p>
            <a:pPr marL="0" indent="0" algn="ctr">
              <a:buNone/>
            </a:pPr>
            <a:r>
              <a:rPr lang="en-US" sz="1300" b="1" dirty="0">
                <a:solidFill>
                  <a:srgbClr val="2BB48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43000" y="3794760"/>
            <a:ext cx="73609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Sort the 28 low performers by cause before cutting.</a:t>
            </a:r>
            <a:endParaRPr lang="en-US" sz="1300" dirty="0"/>
          </a:p>
        </p:txBody>
      </p:sp>
      <p:sp>
        <p:nvSpPr>
          <p:cNvPr id="14" name="Text 12"/>
          <p:cNvSpPr/>
          <p:nvPr/>
        </p:nvSpPr>
        <p:spPr>
          <a:xfrm>
            <a:off x="1143000" y="4142232"/>
            <a:ext cx="7360920" cy="685800"/>
          </a:xfrm>
          <a:prstGeom prst="rect">
            <a:avLst/>
          </a:prstGeom>
          <a:noFill/>
          <a:ln/>
        </p:spPr>
        <p:txBody>
          <a:bodyPr wrap="square" lIns="0" tIns="0" rIns="0" bIns="0" rtlCol="0" anchor="ctr"/>
          <a:lstStyle/>
          <a:p>
            <a:pPr marL="0" indent="0">
              <a:buNone/>
            </a:pPr>
            <a:r>
              <a:rPr lang="en-US" sz="1100" dirty="0">
                <a:solidFill>
                  <a:srgbClr val="D6D1C2"/>
                </a:solidFill>
                <a:latin typeface="Calibri" pitchFamily="34" charset="0"/>
                <a:ea typeface="Calibri" pitchFamily="34" charset="-122"/>
                <a:cs typeface="Calibri" pitchFamily="34" charset="-120"/>
              </a:rPr>
              <a:t>Retiring all 28 would give up about $67,000 of profit. Keep the new or seasonal, reprice the cost-driven, fix the delivery-driven, and retire only confirmed dead weight.</a:t>
            </a:r>
            <a:endParaRPr lang="en-US" sz="1100" dirty="0"/>
          </a:p>
        </p:txBody>
      </p:sp>
      <p:sp>
        <p:nvSpPr>
          <p:cNvPr id="15" name="Shape 13"/>
          <p:cNvSpPr/>
          <p:nvPr/>
        </p:nvSpPr>
        <p:spPr>
          <a:xfrm>
            <a:off x="8778240" y="1051560"/>
            <a:ext cx="2788920" cy="4572000"/>
          </a:xfrm>
          <a:prstGeom prst="roundRect">
            <a:avLst>
              <a:gd name="adj" fmla="val 3279"/>
            </a:avLst>
          </a:prstGeom>
          <a:solidFill>
            <a:srgbClr val="2BB489"/>
          </a:solidFill>
          <a:ln/>
          <a:effectLst>
            <a:outerShdw blurRad="101600" dist="38100" dir="2700000" algn="bl" rotWithShape="0">
              <a:srgbClr val="000000">
                <a:alpha val="35000"/>
              </a:srgbClr>
            </a:outerShdw>
          </a:effectLst>
        </p:spPr>
      </p:sp>
      <p:sp>
        <p:nvSpPr>
          <p:cNvPr id="16" name="Text 14"/>
          <p:cNvSpPr/>
          <p:nvPr/>
        </p:nvSpPr>
        <p:spPr>
          <a:xfrm>
            <a:off x="9006840" y="1280160"/>
            <a:ext cx="2331720" cy="731520"/>
          </a:xfrm>
          <a:prstGeom prst="rect">
            <a:avLst/>
          </a:prstGeom>
          <a:noFill/>
          <a:ln/>
        </p:spPr>
        <p:txBody>
          <a:bodyPr wrap="square" lIns="0" tIns="0" rIns="0" bIns="0" rtlCol="0" anchor="ctr"/>
          <a:lstStyle/>
          <a:p>
            <a:pPr marL="0" indent="0">
              <a:buNone/>
            </a:pPr>
            <a:r>
              <a:rPr lang="en-US" sz="1650" b="1" dirty="0">
                <a:solidFill>
                  <a:srgbClr val="0E2A21"/>
                </a:solidFill>
                <a:latin typeface="Cambria" pitchFamily="34" charset="0"/>
                <a:ea typeface="Cambria" pitchFamily="34" charset="-122"/>
                <a:cs typeface="Cambria" pitchFamily="34" charset="-120"/>
              </a:rPr>
              <a:t>Let's Talk About Your Store</a:t>
            </a:r>
            <a:endParaRPr lang="en-US" sz="1650" dirty="0"/>
          </a:p>
        </p:txBody>
      </p:sp>
      <p:sp>
        <p:nvSpPr>
          <p:cNvPr id="17" name="Text 15"/>
          <p:cNvSpPr/>
          <p:nvPr/>
        </p:nvSpPr>
        <p:spPr>
          <a:xfrm>
            <a:off x="9006840" y="2057400"/>
            <a:ext cx="2331720" cy="1280160"/>
          </a:xfrm>
          <a:prstGeom prst="rect">
            <a:avLst/>
          </a:prstGeom>
          <a:noFill/>
          <a:ln/>
        </p:spPr>
        <p:txBody>
          <a:bodyPr wrap="square" lIns="0" tIns="0" rIns="0" bIns="0" rtlCol="0" anchor="ctr"/>
          <a:lstStyle/>
          <a:p>
            <a:pPr marL="0" indent="0">
              <a:buNone/>
            </a:pPr>
            <a:r>
              <a:rPr lang="en-US" sz="1050" dirty="0">
                <a:solidFill>
                  <a:srgbClr val="0E2A21"/>
                </a:solidFill>
                <a:latin typeface="Calibri" pitchFamily="34" charset="0"/>
                <a:ea typeface="Calibri" pitchFamily="34" charset="-122"/>
                <a:cs typeface="Calibri" pitchFamily="34" charset="-120"/>
              </a:rPr>
              <a:t>I run this exact diagnostic for e-commerce operators who need to know which SKUs are actually driving growth and which ones are quietly bleeding cash.</a:t>
            </a:r>
            <a:endParaRPr lang="en-US" sz="1050" dirty="0"/>
          </a:p>
        </p:txBody>
      </p:sp>
      <p:sp>
        <p:nvSpPr>
          <p:cNvPr id="18" name="Text 16"/>
          <p:cNvSpPr/>
          <p:nvPr/>
        </p:nvSpPr>
        <p:spPr>
          <a:xfrm>
            <a:off x="9006840" y="3520440"/>
            <a:ext cx="2331720" cy="228600"/>
          </a:xfrm>
          <a:prstGeom prst="rect">
            <a:avLst/>
          </a:prstGeom>
          <a:noFill/>
          <a:ln/>
        </p:spPr>
        <p:txBody>
          <a:bodyPr wrap="square" lIns="0" tIns="0" rIns="0" bIns="0" rtlCol="0" anchor="ctr"/>
          <a:lstStyle/>
          <a:p>
            <a:pPr marL="0" indent="0">
              <a:buNone/>
            </a:pPr>
            <a:r>
              <a:rPr lang="en-US" sz="850" b="1" kern="0" spc="150" dirty="0">
                <a:solidFill>
                  <a:srgbClr val="0E2A21"/>
                </a:solidFill>
                <a:latin typeface="Calibri" pitchFamily="34" charset="0"/>
                <a:ea typeface="Calibri" pitchFamily="34" charset="-122"/>
                <a:cs typeface="Calibri" pitchFamily="34" charset="-120"/>
              </a:rPr>
              <a:t>EMAIL</a:t>
            </a:r>
            <a:endParaRPr lang="en-US" sz="850" dirty="0"/>
          </a:p>
        </p:txBody>
      </p:sp>
      <p:sp>
        <p:nvSpPr>
          <p:cNvPr id="19" name="Text 17"/>
          <p:cNvSpPr/>
          <p:nvPr/>
        </p:nvSpPr>
        <p:spPr>
          <a:xfrm>
            <a:off x="9006840" y="3730752"/>
            <a:ext cx="2331720" cy="365760"/>
          </a:xfrm>
          <a:prstGeom prst="rect">
            <a:avLst/>
          </a:prstGeom>
          <a:noFill/>
          <a:ln/>
        </p:spPr>
        <p:txBody>
          <a:bodyPr wrap="square" lIns="0" tIns="0" rIns="0" bIns="0" rtlCol="0" anchor="ctr"/>
          <a:lstStyle/>
          <a:p>
            <a:pPr marL="0" indent="0">
              <a:buNone/>
            </a:pPr>
            <a:r>
              <a:rPr lang="en-US" sz="1000" dirty="0">
                <a:solidFill>
                  <a:srgbClr val="0E2A21"/>
                </a:solidFill>
                <a:latin typeface="Calibri" pitchFamily="34" charset="0"/>
                <a:ea typeface="Calibri" pitchFamily="34" charset="-122"/>
                <a:cs typeface="Calibri" pitchFamily="34" charset="-120"/>
              </a:rPr>
              <a:t>zeeshanakram1704@gmail.com</a:t>
            </a:r>
            <a:endParaRPr lang="en-US" sz="1000" dirty="0"/>
          </a:p>
        </p:txBody>
      </p:sp>
      <p:sp>
        <p:nvSpPr>
          <p:cNvPr id="20" name="Text 18"/>
          <p:cNvSpPr/>
          <p:nvPr/>
        </p:nvSpPr>
        <p:spPr>
          <a:xfrm>
            <a:off x="9006840" y="4233672"/>
            <a:ext cx="2331720" cy="228600"/>
          </a:xfrm>
          <a:prstGeom prst="rect">
            <a:avLst/>
          </a:prstGeom>
          <a:noFill/>
          <a:ln/>
        </p:spPr>
        <p:txBody>
          <a:bodyPr wrap="square" lIns="0" tIns="0" rIns="0" bIns="0" rtlCol="0" anchor="ctr"/>
          <a:lstStyle/>
          <a:p>
            <a:pPr marL="0" indent="0">
              <a:buNone/>
            </a:pPr>
            <a:r>
              <a:rPr lang="en-US" sz="850" b="1" kern="0" spc="150" dirty="0">
                <a:solidFill>
                  <a:srgbClr val="0E2A21"/>
                </a:solidFill>
                <a:latin typeface="Calibri" pitchFamily="34" charset="0"/>
                <a:ea typeface="Calibri" pitchFamily="34" charset="-122"/>
                <a:cs typeface="Calibri" pitchFamily="34" charset="-120"/>
              </a:rPr>
              <a:t>LINKEDIN</a:t>
            </a:r>
            <a:endParaRPr lang="en-US" sz="850" dirty="0"/>
          </a:p>
        </p:txBody>
      </p:sp>
      <p:sp>
        <p:nvSpPr>
          <p:cNvPr id="21" name="Text 19"/>
          <p:cNvSpPr/>
          <p:nvPr/>
        </p:nvSpPr>
        <p:spPr>
          <a:xfrm>
            <a:off x="9006840" y="4443984"/>
            <a:ext cx="2331720" cy="365760"/>
          </a:xfrm>
          <a:prstGeom prst="rect">
            <a:avLst/>
          </a:prstGeom>
          <a:noFill/>
          <a:ln/>
        </p:spPr>
        <p:txBody>
          <a:bodyPr wrap="square" lIns="0" tIns="0" rIns="0" bIns="0" rtlCol="0" anchor="ctr"/>
          <a:lstStyle/>
          <a:p>
            <a:pPr marL="0" indent="0">
              <a:buNone/>
            </a:pPr>
            <a:r>
              <a:rPr lang="en-US" sz="1000" dirty="0">
                <a:solidFill>
                  <a:srgbClr val="0E2A21"/>
                </a:solidFill>
                <a:latin typeface="Calibri" pitchFamily="34" charset="0"/>
                <a:ea typeface="Calibri" pitchFamily="34" charset="-122"/>
                <a:cs typeface="Calibri" pitchFamily="34" charset="-120"/>
              </a:rPr>
              <a:t>linkedin.com/in/zeeshan-akram-ds</a:t>
            </a:r>
            <a:endParaRPr lang="en-US" sz="1000" dirty="0"/>
          </a:p>
        </p:txBody>
      </p:sp>
      <p:sp>
        <p:nvSpPr>
          <p:cNvPr id="22" name="Text 20"/>
          <p:cNvSpPr/>
          <p:nvPr/>
        </p:nvSpPr>
        <p:spPr>
          <a:xfrm>
            <a:off x="9006840" y="4946904"/>
            <a:ext cx="2331720" cy="228600"/>
          </a:xfrm>
          <a:prstGeom prst="rect">
            <a:avLst/>
          </a:prstGeom>
          <a:noFill/>
          <a:ln/>
        </p:spPr>
        <p:txBody>
          <a:bodyPr wrap="square" lIns="0" tIns="0" rIns="0" bIns="0" rtlCol="0" anchor="ctr"/>
          <a:lstStyle/>
          <a:p>
            <a:pPr marL="0" indent="0">
              <a:buNone/>
            </a:pPr>
            <a:r>
              <a:rPr lang="en-US" sz="850" b="1" kern="0" spc="150" dirty="0">
                <a:solidFill>
                  <a:srgbClr val="0E2A21"/>
                </a:solidFill>
                <a:latin typeface="Calibri" pitchFamily="34" charset="0"/>
                <a:ea typeface="Calibri" pitchFamily="34" charset="-122"/>
                <a:cs typeface="Calibri" pitchFamily="34" charset="-120"/>
              </a:rPr>
              <a:t>BOOK A CALL</a:t>
            </a:r>
            <a:endParaRPr lang="en-US" sz="850" dirty="0"/>
          </a:p>
        </p:txBody>
      </p:sp>
      <p:sp>
        <p:nvSpPr>
          <p:cNvPr id="23" name="Text 21"/>
          <p:cNvSpPr/>
          <p:nvPr/>
        </p:nvSpPr>
        <p:spPr>
          <a:xfrm>
            <a:off x="9006840" y="5157216"/>
            <a:ext cx="2331720" cy="365760"/>
          </a:xfrm>
          <a:prstGeom prst="rect">
            <a:avLst/>
          </a:prstGeom>
          <a:noFill/>
          <a:ln/>
        </p:spPr>
        <p:txBody>
          <a:bodyPr wrap="square" lIns="0" tIns="0" rIns="0" bIns="0" rtlCol="0" anchor="ctr"/>
          <a:lstStyle/>
          <a:p>
            <a:pPr marL="0" indent="0">
              <a:buNone/>
            </a:pPr>
            <a:r>
              <a:rPr lang="en-US" sz="1000" dirty="0">
                <a:solidFill>
                  <a:srgbClr val="0E2A21"/>
                </a:solidFill>
                <a:latin typeface="Calibri" pitchFamily="34" charset="0"/>
                <a:ea typeface="Calibri" pitchFamily="34" charset="-122"/>
                <a:cs typeface="Calibri" pitchFamily="34" charset="-120"/>
              </a:rPr>
              <a:t>calendly.com/zeeshanakram/data-diagnostic</a:t>
            </a:r>
            <a:endParaRPr lang="en-US" sz="1000" dirty="0"/>
          </a:p>
        </p:txBody>
      </p:sp>
      <p:sp>
        <p:nvSpPr>
          <p:cNvPr id="24" name="Text 22"/>
          <p:cNvSpPr/>
          <p:nvPr/>
        </p:nvSpPr>
        <p:spPr>
          <a:xfrm>
            <a:off x="640080" y="6473952"/>
            <a:ext cx="5486400" cy="274320"/>
          </a:xfrm>
          <a:prstGeom prst="rect">
            <a:avLst/>
          </a:prstGeom>
          <a:noFill/>
          <a:ln/>
        </p:spPr>
        <p:txBody>
          <a:bodyPr wrap="square" rtlCol="0" anchor="ctr"/>
          <a:lstStyle/>
          <a:p>
            <a:pPr marL="0" indent="0">
              <a:buNone/>
            </a:pPr>
            <a:r>
              <a:rPr lang="en-US" sz="900" kern="0" spc="200" dirty="0">
                <a:solidFill>
                  <a:srgbClr val="A39D8C"/>
                </a:solidFill>
                <a:latin typeface="Calibri" pitchFamily="34" charset="0"/>
                <a:ea typeface="Calibri" pitchFamily="34" charset="-122"/>
                <a:cs typeface="Calibri" pitchFamily="34" charset="-120"/>
              </a:rPr>
              <a:t>THE PROFIT LEAK DIAGNOSTIC</a:t>
            </a:r>
            <a:endParaRPr lang="en-US" sz="900" dirty="0"/>
          </a:p>
        </p:txBody>
      </p:sp>
      <p:sp>
        <p:nvSpPr>
          <p:cNvPr id="25" name="Text 23"/>
          <p:cNvSpPr/>
          <p:nvPr/>
        </p:nvSpPr>
        <p:spPr>
          <a:xfrm>
            <a:off x="10180015" y="6473952"/>
            <a:ext cx="1371600" cy="274320"/>
          </a:xfrm>
          <a:prstGeom prst="rect">
            <a:avLst/>
          </a:prstGeom>
          <a:noFill/>
          <a:ln/>
        </p:spPr>
        <p:txBody>
          <a:bodyPr wrap="square" rtlCol="0" anchor="ctr"/>
          <a:lstStyle/>
          <a:p>
            <a:pPr marL="0" indent="0" algn="r">
              <a:buNone/>
            </a:pPr>
            <a:r>
              <a:rPr lang="en-US" sz="900" dirty="0">
                <a:solidFill>
                  <a:srgbClr val="A39D8C"/>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1284</Words>
  <Application>Microsoft Office PowerPoint</Application>
  <PresentationFormat>Widescreen</PresentationFormat>
  <Paragraphs>140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Profit Leak Diagnostic</dc:title>
  <dc:subject>PptxGenJS Presentation</dc:subject>
  <dc:creator>Zeeshan Akram</dc:creator>
  <cp:lastModifiedBy>Zeeshan Akram</cp:lastModifiedBy>
  <cp:revision>3</cp:revision>
  <dcterms:created xsi:type="dcterms:W3CDTF">2026-06-30T06:25:22Z</dcterms:created>
  <dcterms:modified xsi:type="dcterms:W3CDTF">2026-10-12T02:33:25Z</dcterms:modified>
</cp:coreProperties>
</file>